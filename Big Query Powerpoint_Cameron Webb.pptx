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62" r:id="rId5"/>
    <p:sldId id="259" r:id="rId6"/>
    <p:sldId id="261" r:id="rId7"/>
    <p:sldId id="270" r:id="rId8"/>
    <p:sldId id="269" r:id="rId9"/>
    <p:sldId id="271" r:id="rId10"/>
    <p:sldId id="275" r:id="rId11"/>
    <p:sldId id="277" r:id="rId12"/>
    <p:sldId id="278" r:id="rId13"/>
    <p:sldId id="263" r:id="rId14"/>
    <p:sldId id="264" r:id="rId15"/>
    <p:sldId id="265" r:id="rId16"/>
    <p:sldId id="267" r:id="rId17"/>
    <p:sldId id="268" r:id="rId18"/>
    <p:sldId id="276" r:id="rId19"/>
    <p:sldId id="272" r:id="rId20"/>
    <p:sldId id="273" r:id="rId21"/>
    <p:sldId id="274"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6" d="100"/>
          <a:sy n="146" d="100"/>
        </p:scale>
        <p:origin x="120"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meron Webb" userId="b1c6c1d8acb894f0" providerId="LiveId" clId="{DCC85F16-04B2-4D7A-B8DB-1764800A8F8F}"/>
    <pc:docChg chg="undo custSel addSld delSld modSld sldOrd addMainMaster delMainMaster">
      <pc:chgData name="Cameron Webb" userId="b1c6c1d8acb894f0" providerId="LiveId" clId="{DCC85F16-04B2-4D7A-B8DB-1764800A8F8F}" dt="2026-01-15T00:11:14.819" v="6182" actId="20577"/>
      <pc:docMkLst>
        <pc:docMk/>
      </pc:docMkLst>
      <pc:sldChg chg="modSp mod">
        <pc:chgData name="Cameron Webb" userId="b1c6c1d8acb894f0" providerId="LiveId" clId="{DCC85F16-04B2-4D7A-B8DB-1764800A8F8F}" dt="2026-01-15T00:11:14.819" v="6182" actId="20577"/>
        <pc:sldMkLst>
          <pc:docMk/>
          <pc:sldMk cId="1977533521" sldId="256"/>
        </pc:sldMkLst>
        <pc:spChg chg="mod">
          <ac:chgData name="Cameron Webb" userId="b1c6c1d8acb894f0" providerId="LiveId" clId="{DCC85F16-04B2-4D7A-B8DB-1764800A8F8F}" dt="2026-01-15T00:11:14.819" v="6182" actId="20577"/>
          <ac:spMkLst>
            <pc:docMk/>
            <pc:sldMk cId="1977533521" sldId="256"/>
            <ac:spMk id="3" creationId="{B169FC05-4B6F-5A35-7103-5C186CD4B91F}"/>
          </ac:spMkLst>
        </pc:spChg>
      </pc:sldChg>
      <pc:sldChg chg="modSp mod">
        <pc:chgData name="Cameron Webb" userId="b1c6c1d8acb894f0" providerId="LiveId" clId="{DCC85F16-04B2-4D7A-B8DB-1764800A8F8F}" dt="2026-01-15T00:11:06.852" v="6180" actId="20577"/>
        <pc:sldMkLst>
          <pc:docMk/>
          <pc:sldMk cId="423024956" sldId="265"/>
        </pc:sldMkLst>
        <pc:spChg chg="mod">
          <ac:chgData name="Cameron Webb" userId="b1c6c1d8acb894f0" providerId="LiveId" clId="{DCC85F16-04B2-4D7A-B8DB-1764800A8F8F}" dt="2026-01-15T00:11:06.852" v="6180" actId="20577"/>
          <ac:spMkLst>
            <pc:docMk/>
            <pc:sldMk cId="423024956" sldId="265"/>
            <ac:spMk id="11" creationId="{C94DB9A6-C592-5D3C-4239-65D981B5EB2E}"/>
          </ac:spMkLst>
        </pc:spChg>
      </pc:sldChg>
      <pc:sldChg chg="addSp delSp modSp add mod">
        <pc:chgData name="Cameron Webb" userId="b1c6c1d8acb894f0" providerId="LiveId" clId="{DCC85F16-04B2-4D7A-B8DB-1764800A8F8F}" dt="2026-01-15T00:11:06.563" v="6179" actId="20577"/>
        <pc:sldMkLst>
          <pc:docMk/>
          <pc:sldMk cId="3526955801" sldId="277"/>
        </pc:sldMkLst>
        <pc:spChg chg="mod">
          <ac:chgData name="Cameron Webb" userId="b1c6c1d8acb894f0" providerId="LiveId" clId="{DCC85F16-04B2-4D7A-B8DB-1764800A8F8F}" dt="2026-01-15T00:11:06.563" v="6179" actId="20577"/>
          <ac:spMkLst>
            <pc:docMk/>
            <pc:sldMk cId="3526955801" sldId="277"/>
            <ac:spMk id="3" creationId="{3EB1E255-339B-F4B5-1D94-00AB7F43740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a:t>Click to edit Master title style</a:t>
            </a:r>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11EAACC7-3B3F-47D1-959A-EF58926E955E}" type="datetimeFigureOut">
              <a:rPr lang="en-US" smtClean="0"/>
              <a:t>1/14/2026</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569781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11EAACC7-3B3F-47D1-959A-EF58926E955E}" type="datetimeFigureOut">
              <a:rPr lang="en-US" smtClean="0"/>
              <a:t>1/14/2026</a:t>
            </a:fld>
            <a:endParaRPr lang="en-US"/>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268517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11EAACC7-3B3F-47D1-959A-EF58926E955E}" type="datetimeFigureOut">
              <a:rPr lang="en-US" smtClean="0"/>
              <a:t>1/14/2026</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65361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11EAACC7-3B3F-47D1-959A-EF58926E955E}" type="datetimeFigureOut">
              <a:rPr lang="en-US" smtClean="0"/>
              <a:t>1/14/2026</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127852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11EAACC7-3B3F-47D1-959A-EF58926E955E}" type="datetimeFigureOut">
              <a:rPr lang="en-US" smtClean="0"/>
              <a:t>1/14/2026</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4194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11EAACC7-3B3F-47D1-959A-EF58926E955E}" type="datetimeFigureOut">
              <a:rPr lang="en-US" smtClean="0"/>
              <a:t>1/14/2026</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268019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11EAACC7-3B3F-47D1-959A-EF58926E955E}" type="datetimeFigureOut">
              <a:rPr lang="en-US" smtClean="0"/>
              <a:t>1/14/2026</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162501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11EAACC7-3B3F-47D1-959A-EF58926E955E}" type="datetimeFigureOut">
              <a:rPr lang="en-US" smtClean="0"/>
              <a:t>1/14/2026</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445249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11EAACC7-3B3F-47D1-959A-EF58926E955E}" type="datetimeFigureOut">
              <a:rPr lang="en-US" smtClean="0"/>
              <a:t>1/14/2026</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055008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11EAACC7-3B3F-47D1-959A-EF58926E955E}" type="datetimeFigureOut">
              <a:rPr lang="en-US" smtClean="0"/>
              <a:t>1/14/2026</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015452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11EAACC7-3B3F-47D1-959A-EF58926E955E}" type="datetimeFigureOut">
              <a:rPr lang="en-US" smtClean="0"/>
              <a:t>1/14/2026</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859390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11EAACC7-3B3F-47D1-959A-EF58926E955E}" type="datetimeFigureOut">
              <a:rPr lang="en-US" smtClean="0"/>
              <a:t>1/14/2026</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312CC964-A50B-4C29-B4E4-2C30BB34CCF3}" type="slidenum">
              <a:rPr lang="en-US" smtClean="0"/>
              <a:t>‹#›</a:t>
            </a:fld>
            <a:endParaRPr lang="en-US"/>
          </a:p>
        </p:txBody>
      </p:sp>
    </p:spTree>
    <p:extLst>
      <p:ext uri="{BB962C8B-B14F-4D97-AF65-F5344CB8AC3E}">
        <p14:creationId xmlns:p14="http://schemas.microsoft.com/office/powerpoint/2010/main" val="623998890"/>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14" r:id="rId4"/>
    <p:sldLayoutId id="2147483715" r:id="rId5"/>
    <p:sldLayoutId id="2147483720" r:id="rId6"/>
    <p:sldLayoutId id="2147483716" r:id="rId7"/>
    <p:sldLayoutId id="2147483717" r:id="rId8"/>
    <p:sldLayoutId id="2147483718" r:id="rId9"/>
    <p:sldLayoutId id="2147483719" r:id="rId10"/>
    <p:sldLayoutId id="2147483721" r:id="rId11"/>
  </p:sldLayoutIdLs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shop.googlemerchandisestore.com/google" TargetMode="External"/><Relationship Id="rId2" Type="http://schemas.openxmlformats.org/officeDocument/2006/relationships/hyperlink" Target="https://shop.googlemerchandisestore.com/Google" TargetMode="Externa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0D4398-84C2-41B8-BF30-3157F7B18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15D69CC-A31C-3005-14FF-518130666A6A}"/>
              </a:ext>
            </a:extLst>
          </p:cNvPr>
          <p:cNvPicPr>
            <a:picLocks noChangeAspect="1"/>
          </p:cNvPicPr>
          <p:nvPr/>
        </p:nvPicPr>
        <p:blipFill>
          <a:blip r:embed="rId2"/>
          <a:srcRect l="10685" r="9710" b="2"/>
          <a:stretch>
            <a:fillRect/>
          </a:stretch>
        </p:blipFill>
        <p:spPr>
          <a:xfrm>
            <a:off x="20" y="10"/>
            <a:ext cx="9137156" cy="6857989"/>
          </a:xfrm>
          <a:prstGeom prst="rect">
            <a:avLst/>
          </a:prstGeom>
        </p:spPr>
      </p:pic>
      <p:sp>
        <p:nvSpPr>
          <p:cNvPr id="11" name="Rectangle 23">
            <a:extLst>
              <a:ext uri="{FF2B5EF4-FFF2-40B4-BE49-F238E27FC236}">
                <a16:creationId xmlns:a16="http://schemas.microsoft.com/office/drawing/2014/main" id="{1E519840-CB5B-442F-AF8C-F848E7699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45558" y="-6724"/>
            <a:ext cx="4265457" cy="6868736"/>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1747097 w 5170888"/>
              <a:gd name="connsiteY0" fmla="*/ 0 h 6865085"/>
              <a:gd name="connsiteX1" fmla="*/ 5170888 w 5170888"/>
              <a:gd name="connsiteY1" fmla="*/ 0 h 6865085"/>
              <a:gd name="connsiteX2" fmla="*/ 5170888 w 5170888"/>
              <a:gd name="connsiteY2" fmla="*/ 6857998 h 6865085"/>
              <a:gd name="connsiteX3" fmla="*/ 0 w 5170888"/>
              <a:gd name="connsiteY3" fmla="*/ 6865085 h 6865085"/>
              <a:gd name="connsiteX4" fmla="*/ 1747097 w 5170888"/>
              <a:gd name="connsiteY4" fmla="*/ 0 h 6865085"/>
              <a:gd name="connsiteX0" fmla="*/ 1404766 w 5170888"/>
              <a:gd name="connsiteY0" fmla="*/ 0 h 6865085"/>
              <a:gd name="connsiteX1" fmla="*/ 5170888 w 5170888"/>
              <a:gd name="connsiteY1" fmla="*/ 0 h 6865085"/>
              <a:gd name="connsiteX2" fmla="*/ 5170888 w 5170888"/>
              <a:gd name="connsiteY2" fmla="*/ 6857998 h 6865085"/>
              <a:gd name="connsiteX3" fmla="*/ 0 w 5170888"/>
              <a:gd name="connsiteY3" fmla="*/ 6865085 h 6865085"/>
              <a:gd name="connsiteX4" fmla="*/ 1404766 w 5170888"/>
              <a:gd name="connsiteY4" fmla="*/ 0 h 686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0888" h="6865085">
                <a:moveTo>
                  <a:pt x="1404766" y="0"/>
                </a:moveTo>
                <a:lnTo>
                  <a:pt x="5170888" y="0"/>
                </a:lnTo>
                <a:lnTo>
                  <a:pt x="5170888" y="6857998"/>
                </a:lnTo>
                <a:lnTo>
                  <a:pt x="0" y="6865085"/>
                </a:lnTo>
                <a:lnTo>
                  <a:pt x="1404766"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9EB8AC-5010-B5D2-6044-5600CEA57EB0}"/>
              </a:ext>
            </a:extLst>
          </p:cNvPr>
          <p:cNvSpPr>
            <a:spLocks noGrp="1"/>
          </p:cNvSpPr>
          <p:nvPr>
            <p:ph type="ctrTitle"/>
          </p:nvPr>
        </p:nvSpPr>
        <p:spPr>
          <a:xfrm>
            <a:off x="8504880" y="3025587"/>
            <a:ext cx="3153720" cy="2985247"/>
          </a:xfrm>
        </p:spPr>
        <p:txBody>
          <a:bodyPr>
            <a:normAutofit/>
          </a:bodyPr>
          <a:lstStyle/>
          <a:p>
            <a:pPr algn="r"/>
            <a:r>
              <a:rPr lang="en-CA" sz="3400"/>
              <a:t>Examining GA4 dataset in BigQuery and Python</a:t>
            </a:r>
          </a:p>
        </p:txBody>
      </p:sp>
      <p:sp>
        <p:nvSpPr>
          <p:cNvPr id="3" name="Subtitle 2">
            <a:extLst>
              <a:ext uri="{FF2B5EF4-FFF2-40B4-BE49-F238E27FC236}">
                <a16:creationId xmlns:a16="http://schemas.microsoft.com/office/drawing/2014/main" id="{B169FC05-4B6F-5A35-7103-5C186CD4B91F}"/>
              </a:ext>
            </a:extLst>
          </p:cNvPr>
          <p:cNvSpPr>
            <a:spLocks noGrp="1"/>
          </p:cNvSpPr>
          <p:nvPr>
            <p:ph type="subTitle" idx="1"/>
          </p:nvPr>
        </p:nvSpPr>
        <p:spPr>
          <a:xfrm>
            <a:off x="9137176" y="1116873"/>
            <a:ext cx="2521424" cy="1520669"/>
          </a:xfrm>
        </p:spPr>
        <p:txBody>
          <a:bodyPr>
            <a:normAutofit/>
          </a:bodyPr>
          <a:lstStyle/>
          <a:p>
            <a:pPr algn="r"/>
            <a:r>
              <a:rPr lang="en-CA" sz="1600" dirty="0"/>
              <a:t>Cameron Webb</a:t>
            </a:r>
          </a:p>
        </p:txBody>
      </p:sp>
      <p:cxnSp>
        <p:nvCxnSpPr>
          <p:cNvPr id="13" name="Straight Connector 12">
            <a:extLst>
              <a:ext uri="{FF2B5EF4-FFF2-40B4-BE49-F238E27FC236}">
                <a16:creationId xmlns:a16="http://schemas.microsoft.com/office/drawing/2014/main" id="{AC7EF422-3076-48F2-A38B-7CA851778E0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31959" y="0"/>
            <a:ext cx="5279056" cy="77792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896548C-21A4-493D-B220-64E89F1EF6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81082" y="-6724"/>
            <a:ext cx="2279175" cy="686472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7533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63AC3-DD95-58F7-2A05-5C56E93350AA}"/>
              </a:ext>
            </a:extLst>
          </p:cNvPr>
          <p:cNvSpPr>
            <a:spLocks noGrp="1"/>
          </p:cNvSpPr>
          <p:nvPr>
            <p:ph type="title"/>
          </p:nvPr>
        </p:nvSpPr>
        <p:spPr>
          <a:xfrm>
            <a:off x="1142999" y="203985"/>
            <a:ext cx="9906000" cy="1382156"/>
          </a:xfrm>
        </p:spPr>
        <p:txBody>
          <a:bodyPr/>
          <a:lstStyle/>
          <a:p>
            <a:r>
              <a:rPr lang="en-CA"/>
              <a:t>Checking for available dates</a:t>
            </a:r>
          </a:p>
        </p:txBody>
      </p:sp>
      <p:sp>
        <p:nvSpPr>
          <p:cNvPr id="3" name="Content Placeholder 2">
            <a:extLst>
              <a:ext uri="{FF2B5EF4-FFF2-40B4-BE49-F238E27FC236}">
                <a16:creationId xmlns:a16="http://schemas.microsoft.com/office/drawing/2014/main" id="{A6CB71EE-144F-2A89-020A-DFE779D7150E}"/>
              </a:ext>
            </a:extLst>
          </p:cNvPr>
          <p:cNvSpPr>
            <a:spLocks noGrp="1"/>
          </p:cNvSpPr>
          <p:nvPr>
            <p:ph idx="1"/>
          </p:nvPr>
        </p:nvSpPr>
        <p:spPr>
          <a:xfrm>
            <a:off x="1143000" y="1586141"/>
            <a:ext cx="9087196" cy="3942359"/>
          </a:xfrm>
        </p:spPr>
        <p:txBody>
          <a:bodyPr/>
          <a:lstStyle/>
          <a:p>
            <a:pPr marL="0" indent="0">
              <a:buNone/>
            </a:pPr>
            <a:r>
              <a:rPr lang="en-CA"/>
              <a:t>Preliminary testing showed the expected dates (August 1</a:t>
            </a:r>
            <a:r>
              <a:rPr lang="en-CA" baseline="30000"/>
              <a:t>st</a:t>
            </a:r>
            <a:r>
              <a:rPr lang="en-CA"/>
              <a:t>-7</a:t>
            </a:r>
            <a:r>
              <a:rPr lang="en-CA" baseline="30000"/>
              <a:t>th</a:t>
            </a:r>
            <a:r>
              <a:rPr lang="en-CA"/>
              <a:t>) of 2020 were not available in the dataset, so first we checked which dates </a:t>
            </a:r>
            <a:r>
              <a:rPr lang="en-CA" b="1"/>
              <a:t>were </a:t>
            </a:r>
            <a:r>
              <a:rPr lang="en-CA"/>
              <a:t>available.</a:t>
            </a:r>
            <a:br>
              <a:rPr lang="en-CA"/>
            </a:br>
            <a:br>
              <a:rPr lang="en-CA"/>
            </a:br>
            <a:r>
              <a:rPr lang="en-CA"/>
              <a:t>The following code provides a single row with the oldest date and the newest date:</a:t>
            </a:r>
            <a:endParaRPr lang="en-CA" b="1"/>
          </a:p>
        </p:txBody>
      </p:sp>
      <p:pic>
        <p:nvPicPr>
          <p:cNvPr id="7" name="Picture 6">
            <a:extLst>
              <a:ext uri="{FF2B5EF4-FFF2-40B4-BE49-F238E27FC236}">
                <a16:creationId xmlns:a16="http://schemas.microsoft.com/office/drawing/2014/main" id="{CD8620DF-723B-5FE4-FE07-776ECEDB2C14}"/>
              </a:ext>
            </a:extLst>
          </p:cNvPr>
          <p:cNvPicPr>
            <a:picLocks noChangeAspect="1"/>
          </p:cNvPicPr>
          <p:nvPr/>
        </p:nvPicPr>
        <p:blipFill>
          <a:blip r:embed="rId2"/>
          <a:stretch>
            <a:fillRect/>
          </a:stretch>
        </p:blipFill>
        <p:spPr>
          <a:xfrm>
            <a:off x="910590" y="3774231"/>
            <a:ext cx="10370819" cy="1754269"/>
          </a:xfrm>
          <a:prstGeom prst="rect">
            <a:avLst/>
          </a:prstGeom>
        </p:spPr>
      </p:pic>
      <p:sp>
        <p:nvSpPr>
          <p:cNvPr id="5" name="Title 1">
            <a:extLst>
              <a:ext uri="{FF2B5EF4-FFF2-40B4-BE49-F238E27FC236}">
                <a16:creationId xmlns:a16="http://schemas.microsoft.com/office/drawing/2014/main" id="{424C34D9-95A6-92EB-95ED-ECA54E3C03C8}"/>
              </a:ext>
            </a:extLst>
          </p:cNvPr>
          <p:cNvSpPr txBox="1">
            <a:spLocks/>
          </p:cNvSpPr>
          <p:nvPr/>
        </p:nvSpPr>
        <p:spPr>
          <a:xfrm>
            <a:off x="9401433" y="-84437"/>
            <a:ext cx="4324865" cy="6201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stStyle>
          <a:p>
            <a:r>
              <a:rPr lang="en-CA" sz="1400" b="1" err="1">
                <a:solidFill>
                  <a:srgbClr val="0069A2"/>
                </a:solidFill>
              </a:rPr>
              <a:t>Bigquery</a:t>
            </a:r>
            <a:r>
              <a:rPr lang="en-CA" sz="1400" b="1">
                <a:solidFill>
                  <a:srgbClr val="0069A2"/>
                </a:solidFill>
              </a:rPr>
              <a:t> data extraction</a:t>
            </a:r>
          </a:p>
        </p:txBody>
      </p:sp>
    </p:spTree>
    <p:extLst>
      <p:ext uri="{BB962C8B-B14F-4D97-AF65-F5344CB8AC3E}">
        <p14:creationId xmlns:p14="http://schemas.microsoft.com/office/powerpoint/2010/main" val="21608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3FA49195-69EB-4E39-A68A-C232E2D03E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66CAE2-27CA-B227-54B1-EB750424FE4B}"/>
              </a:ext>
            </a:extLst>
          </p:cNvPr>
          <p:cNvSpPr>
            <a:spLocks noGrp="1"/>
          </p:cNvSpPr>
          <p:nvPr>
            <p:ph type="title"/>
          </p:nvPr>
        </p:nvSpPr>
        <p:spPr>
          <a:xfrm>
            <a:off x="2155048" y="-752199"/>
            <a:ext cx="7802880" cy="3231543"/>
          </a:xfrm>
        </p:spPr>
        <p:txBody>
          <a:bodyPr vert="horz" lIns="91440" tIns="45720" rIns="91440" bIns="45720" rtlCol="0" anchor="b">
            <a:normAutofit/>
          </a:bodyPr>
          <a:lstStyle/>
          <a:p>
            <a:pPr algn="ctr"/>
            <a:r>
              <a:rPr lang="en-US" sz="6600"/>
              <a:t>Output:</a:t>
            </a:r>
            <a:br>
              <a:rPr lang="en-US" sz="6600"/>
            </a:br>
            <a:endParaRPr lang="en-US" sz="6600"/>
          </a:p>
        </p:txBody>
      </p:sp>
      <p:cxnSp>
        <p:nvCxnSpPr>
          <p:cNvPr id="26" name="Straight Connector 25">
            <a:extLst>
              <a:ext uri="{FF2B5EF4-FFF2-40B4-BE49-F238E27FC236}">
                <a16:creationId xmlns:a16="http://schemas.microsoft.com/office/drawing/2014/main" id="{13280B82-CD55-43FD-92C4-F05E2A8D13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7932" y="19556"/>
            <a:ext cx="8547253" cy="232232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0A4F542-D561-4AFB-8321-EB900BAF0A0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7931" y="0"/>
            <a:ext cx="1461005" cy="461772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4D9248B-0006-4BFE-8110-40C16E45C0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935720" y="3957320"/>
            <a:ext cx="3272713" cy="290067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E593BB5-7AFA-4C8F-AECA-CE733B1FD09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393326" y="0"/>
            <a:ext cx="1332509" cy="685799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521483B-CE28-412B-9C71-9BE081E9DC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37960" y="0"/>
            <a:ext cx="5654039" cy="220625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C9F4738-DD27-44BE-98C6-AB0B2296BD2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 y="5196840"/>
            <a:ext cx="5181599" cy="164160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E36C2452-004D-E8F9-4FAA-C3E1118B1187}"/>
              </a:ext>
            </a:extLst>
          </p:cNvPr>
          <p:cNvPicPr>
            <a:picLocks noChangeAspect="1"/>
          </p:cNvPicPr>
          <p:nvPr/>
        </p:nvPicPr>
        <p:blipFill>
          <a:blip r:embed="rId2"/>
          <a:stretch>
            <a:fillRect/>
          </a:stretch>
        </p:blipFill>
        <p:spPr>
          <a:xfrm>
            <a:off x="1755641" y="2186707"/>
            <a:ext cx="8680717" cy="1197340"/>
          </a:xfrm>
          <a:prstGeom prst="rect">
            <a:avLst/>
          </a:prstGeom>
        </p:spPr>
      </p:pic>
      <p:sp>
        <p:nvSpPr>
          <p:cNvPr id="13" name="Content Placeholder 2">
            <a:extLst>
              <a:ext uri="{FF2B5EF4-FFF2-40B4-BE49-F238E27FC236}">
                <a16:creationId xmlns:a16="http://schemas.microsoft.com/office/drawing/2014/main" id="{0DD054FE-45C8-2188-5DF7-AC06095B7734}"/>
              </a:ext>
            </a:extLst>
          </p:cNvPr>
          <p:cNvSpPr>
            <a:spLocks noGrp="1"/>
          </p:cNvSpPr>
          <p:nvPr>
            <p:ph idx="1"/>
          </p:nvPr>
        </p:nvSpPr>
        <p:spPr>
          <a:xfrm>
            <a:off x="1774076" y="3892127"/>
            <a:ext cx="8564824" cy="1788005"/>
          </a:xfrm>
        </p:spPr>
        <p:txBody>
          <a:bodyPr/>
          <a:lstStyle/>
          <a:p>
            <a:pPr marL="0" indent="0">
              <a:buNone/>
            </a:pPr>
            <a:r>
              <a:rPr lang="en-CA"/>
              <a:t>The available dates listed were from November 11</a:t>
            </a:r>
            <a:r>
              <a:rPr lang="en-CA" baseline="30000"/>
              <a:t>th</a:t>
            </a:r>
            <a:r>
              <a:rPr lang="en-CA"/>
              <a:t> 2020 to January 31</a:t>
            </a:r>
            <a:r>
              <a:rPr lang="en-CA" baseline="30000"/>
              <a:t>st</a:t>
            </a:r>
            <a:r>
              <a:rPr lang="en-CA"/>
              <a:t> 2021.</a:t>
            </a:r>
            <a:br>
              <a:rPr lang="en-CA"/>
            </a:br>
            <a:r>
              <a:rPr lang="en-CA"/>
              <a:t>December was chosen at random to be the month we proceeded with, and we stuck with the 1</a:t>
            </a:r>
            <a:r>
              <a:rPr lang="en-CA" baseline="30000"/>
              <a:t>st</a:t>
            </a:r>
            <a:r>
              <a:rPr lang="en-CA"/>
              <a:t> to the 7</a:t>
            </a:r>
            <a:r>
              <a:rPr lang="en-CA" baseline="30000"/>
              <a:t>th</a:t>
            </a:r>
            <a:r>
              <a:rPr lang="en-CA"/>
              <a:t> as in the original requirements.</a:t>
            </a:r>
          </a:p>
        </p:txBody>
      </p:sp>
      <p:sp>
        <p:nvSpPr>
          <p:cNvPr id="9" name="Title 1">
            <a:extLst>
              <a:ext uri="{FF2B5EF4-FFF2-40B4-BE49-F238E27FC236}">
                <a16:creationId xmlns:a16="http://schemas.microsoft.com/office/drawing/2014/main" id="{D8F4F56E-2ABD-8790-B6DF-78E37E46F4B1}"/>
              </a:ext>
            </a:extLst>
          </p:cNvPr>
          <p:cNvSpPr txBox="1">
            <a:spLocks/>
          </p:cNvSpPr>
          <p:nvPr/>
        </p:nvSpPr>
        <p:spPr>
          <a:xfrm>
            <a:off x="9368482" y="-55605"/>
            <a:ext cx="4324865" cy="620155"/>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400" b="1" err="1">
                <a:solidFill>
                  <a:srgbClr val="0069A2"/>
                </a:solidFill>
              </a:rPr>
              <a:t>Bigquery</a:t>
            </a:r>
            <a:r>
              <a:rPr lang="en-CA" sz="1400" b="1">
                <a:solidFill>
                  <a:srgbClr val="0069A2"/>
                </a:solidFill>
              </a:rPr>
              <a:t> data extraction</a:t>
            </a:r>
          </a:p>
        </p:txBody>
      </p:sp>
    </p:spTree>
    <p:extLst>
      <p:ext uri="{BB962C8B-B14F-4D97-AF65-F5344CB8AC3E}">
        <p14:creationId xmlns:p14="http://schemas.microsoft.com/office/powerpoint/2010/main" val="542467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A9F5F-4788-68E3-BE99-2A6781806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C23F3B-14EA-0975-406C-5FAB488F7AEC}"/>
              </a:ext>
            </a:extLst>
          </p:cNvPr>
          <p:cNvSpPr>
            <a:spLocks noGrp="1"/>
          </p:cNvSpPr>
          <p:nvPr>
            <p:ph type="title"/>
          </p:nvPr>
        </p:nvSpPr>
        <p:spPr/>
        <p:txBody>
          <a:bodyPr/>
          <a:lstStyle/>
          <a:p>
            <a:r>
              <a:rPr lang="en-CA"/>
              <a:t>The Dataset</a:t>
            </a:r>
          </a:p>
        </p:txBody>
      </p:sp>
      <p:sp>
        <p:nvSpPr>
          <p:cNvPr id="3" name="Content Placeholder 2">
            <a:extLst>
              <a:ext uri="{FF2B5EF4-FFF2-40B4-BE49-F238E27FC236}">
                <a16:creationId xmlns:a16="http://schemas.microsoft.com/office/drawing/2014/main" id="{3EE4BB7D-78EB-040B-59CE-CC4329F2DAFC}"/>
              </a:ext>
            </a:extLst>
          </p:cNvPr>
          <p:cNvSpPr>
            <a:spLocks noGrp="1"/>
          </p:cNvSpPr>
          <p:nvPr>
            <p:ph idx="1"/>
          </p:nvPr>
        </p:nvSpPr>
        <p:spPr>
          <a:xfrm>
            <a:off x="1143000" y="4586655"/>
            <a:ext cx="9906000" cy="1830926"/>
          </a:xfrm>
        </p:spPr>
        <p:txBody>
          <a:bodyPr vert="horz" lIns="91440" tIns="45720" rIns="91440" bIns="45720" rtlCol="0" anchor="t">
            <a:normAutofit fontScale="92500"/>
          </a:bodyPr>
          <a:lstStyle/>
          <a:p>
            <a:pPr marL="0" indent="0">
              <a:buNone/>
            </a:pPr>
            <a:r>
              <a:rPr lang="en-CA"/>
              <a:t>We created two data-frames,</a:t>
            </a:r>
            <a:r>
              <a:rPr lang="en-CA" b="1"/>
              <a:t> first</a:t>
            </a:r>
            <a:r>
              <a:rPr lang="en-CA"/>
              <a:t>,</a:t>
            </a:r>
            <a:r>
              <a:rPr lang="en-CA" b="1"/>
              <a:t> </a:t>
            </a:r>
            <a:r>
              <a:rPr lang="en-CA"/>
              <a:t>“events” is all data pulled from the dataset provided. </a:t>
            </a:r>
            <a:br>
              <a:rPr lang="en-CA"/>
            </a:br>
            <a:br>
              <a:rPr lang="en-CA"/>
            </a:br>
            <a:r>
              <a:rPr lang="en-CA" b="1"/>
              <a:t>Second</a:t>
            </a:r>
            <a:r>
              <a:rPr lang="en-CA"/>
              <a:t>, google analytics has some data stored in arrays, we used a BigQuery function called ‘unnest’ to separate the values into separate rows and store it as “ep” (event parameters)</a:t>
            </a:r>
          </a:p>
        </p:txBody>
      </p:sp>
      <p:pic>
        <p:nvPicPr>
          <p:cNvPr id="8" name="Picture 7">
            <a:extLst>
              <a:ext uri="{FF2B5EF4-FFF2-40B4-BE49-F238E27FC236}">
                <a16:creationId xmlns:a16="http://schemas.microsoft.com/office/drawing/2014/main" id="{F1200FE2-B176-4E04-1A11-A57CC142D2F2}"/>
              </a:ext>
            </a:extLst>
          </p:cNvPr>
          <p:cNvPicPr>
            <a:picLocks noChangeAspect="1"/>
          </p:cNvPicPr>
          <p:nvPr/>
        </p:nvPicPr>
        <p:blipFill>
          <a:blip r:embed="rId2"/>
          <a:stretch>
            <a:fillRect/>
          </a:stretch>
        </p:blipFill>
        <p:spPr>
          <a:xfrm>
            <a:off x="918769" y="2271345"/>
            <a:ext cx="9906000" cy="965106"/>
          </a:xfrm>
          <a:prstGeom prst="rect">
            <a:avLst/>
          </a:prstGeom>
        </p:spPr>
      </p:pic>
      <p:sp>
        <p:nvSpPr>
          <p:cNvPr id="7" name="Title 1">
            <a:extLst>
              <a:ext uri="{FF2B5EF4-FFF2-40B4-BE49-F238E27FC236}">
                <a16:creationId xmlns:a16="http://schemas.microsoft.com/office/drawing/2014/main" id="{9C57E362-C00E-DDB7-92C1-331E2B539197}"/>
              </a:ext>
            </a:extLst>
          </p:cNvPr>
          <p:cNvSpPr txBox="1">
            <a:spLocks/>
          </p:cNvSpPr>
          <p:nvPr/>
        </p:nvSpPr>
        <p:spPr>
          <a:xfrm>
            <a:off x="9368482" y="-55605"/>
            <a:ext cx="4324865" cy="620155"/>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400" b="1" err="1">
                <a:solidFill>
                  <a:srgbClr val="0069A2"/>
                </a:solidFill>
              </a:rPr>
              <a:t>Bigquery</a:t>
            </a:r>
            <a:r>
              <a:rPr lang="en-CA" sz="1400" b="1">
                <a:solidFill>
                  <a:srgbClr val="0069A2"/>
                </a:solidFill>
              </a:rPr>
              <a:t> data extraction</a:t>
            </a:r>
          </a:p>
        </p:txBody>
      </p:sp>
    </p:spTree>
    <p:extLst>
      <p:ext uri="{BB962C8B-B14F-4D97-AF65-F5344CB8AC3E}">
        <p14:creationId xmlns:p14="http://schemas.microsoft.com/office/powerpoint/2010/main" val="2483644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EB53B-7DF9-DC93-E9B5-72B8CA281513}"/>
              </a:ext>
            </a:extLst>
          </p:cNvPr>
          <p:cNvSpPr>
            <a:spLocks noGrp="1"/>
          </p:cNvSpPr>
          <p:nvPr>
            <p:ph type="title"/>
          </p:nvPr>
        </p:nvSpPr>
        <p:spPr/>
        <p:txBody>
          <a:bodyPr/>
          <a:lstStyle/>
          <a:p>
            <a:r>
              <a:rPr lang="en-CA"/>
              <a:t>Selecting the data</a:t>
            </a:r>
          </a:p>
        </p:txBody>
      </p:sp>
      <p:sp>
        <p:nvSpPr>
          <p:cNvPr id="3" name="Content Placeholder 2">
            <a:extLst>
              <a:ext uri="{FF2B5EF4-FFF2-40B4-BE49-F238E27FC236}">
                <a16:creationId xmlns:a16="http://schemas.microsoft.com/office/drawing/2014/main" id="{E7EB4280-31AA-93A9-CE44-925982F7D81D}"/>
              </a:ext>
            </a:extLst>
          </p:cNvPr>
          <p:cNvSpPr>
            <a:spLocks noGrp="1"/>
          </p:cNvSpPr>
          <p:nvPr>
            <p:ph idx="1"/>
          </p:nvPr>
        </p:nvSpPr>
        <p:spPr>
          <a:xfrm>
            <a:off x="1143000" y="4586655"/>
            <a:ext cx="9906000" cy="1830926"/>
          </a:xfrm>
        </p:spPr>
        <p:txBody>
          <a:bodyPr vert="horz" lIns="91440" tIns="45720" rIns="91440" bIns="45720" rtlCol="0" anchor="t">
            <a:normAutofit/>
          </a:bodyPr>
          <a:lstStyle/>
          <a:p>
            <a:endParaRPr lang="en-CA"/>
          </a:p>
          <a:p>
            <a:pPr marL="457200" lvl="1" indent="0">
              <a:buNone/>
            </a:pPr>
            <a:r>
              <a:rPr lang="en-CA"/>
              <a:t>First, we choose what values we want to select, in this case – we want </a:t>
            </a:r>
            <a:r>
              <a:rPr lang="en-CA" b="1" err="1"/>
              <a:t>event_date</a:t>
            </a:r>
            <a:r>
              <a:rPr lang="en-CA"/>
              <a:t>, </a:t>
            </a:r>
            <a:r>
              <a:rPr lang="en-CA" b="1" err="1"/>
              <a:t>event_name</a:t>
            </a:r>
            <a:r>
              <a:rPr lang="en-CA"/>
              <a:t>, </a:t>
            </a:r>
            <a:r>
              <a:rPr lang="en-CA" b="1" err="1"/>
              <a:t>event_time</a:t>
            </a:r>
            <a:r>
              <a:rPr lang="en-CA"/>
              <a:t> stamp converted from milliseconds to a readable format, and the </a:t>
            </a:r>
            <a:r>
              <a:rPr lang="en-CA" b="1" err="1"/>
              <a:t>user_pseudo_id</a:t>
            </a:r>
            <a:endParaRPr lang="en-CA" b="1"/>
          </a:p>
        </p:txBody>
      </p:sp>
      <p:pic>
        <p:nvPicPr>
          <p:cNvPr id="9" name="Picture 8">
            <a:extLst>
              <a:ext uri="{FF2B5EF4-FFF2-40B4-BE49-F238E27FC236}">
                <a16:creationId xmlns:a16="http://schemas.microsoft.com/office/drawing/2014/main" id="{913C24E4-1926-CC60-1F74-257290A9FFE9}"/>
              </a:ext>
            </a:extLst>
          </p:cNvPr>
          <p:cNvPicPr>
            <a:picLocks noChangeAspect="1"/>
          </p:cNvPicPr>
          <p:nvPr/>
        </p:nvPicPr>
        <p:blipFill>
          <a:blip r:embed="rId2"/>
          <a:stretch>
            <a:fillRect/>
          </a:stretch>
        </p:blipFill>
        <p:spPr>
          <a:xfrm>
            <a:off x="1742844" y="2271345"/>
            <a:ext cx="8706312" cy="2013575"/>
          </a:xfrm>
          <a:prstGeom prst="rect">
            <a:avLst/>
          </a:prstGeom>
        </p:spPr>
      </p:pic>
      <p:sp>
        <p:nvSpPr>
          <p:cNvPr id="7" name="Title 1">
            <a:extLst>
              <a:ext uri="{FF2B5EF4-FFF2-40B4-BE49-F238E27FC236}">
                <a16:creationId xmlns:a16="http://schemas.microsoft.com/office/drawing/2014/main" id="{C16EAFF8-B109-259F-43CA-CA28286E8C52}"/>
              </a:ext>
            </a:extLst>
          </p:cNvPr>
          <p:cNvSpPr txBox="1">
            <a:spLocks/>
          </p:cNvSpPr>
          <p:nvPr/>
        </p:nvSpPr>
        <p:spPr>
          <a:xfrm>
            <a:off x="9368482" y="-55605"/>
            <a:ext cx="4324865" cy="620155"/>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400" b="1" err="1">
                <a:solidFill>
                  <a:srgbClr val="0069A2"/>
                </a:solidFill>
              </a:rPr>
              <a:t>Bigquery</a:t>
            </a:r>
            <a:r>
              <a:rPr lang="en-CA" sz="1400" b="1">
                <a:solidFill>
                  <a:srgbClr val="0069A2"/>
                </a:solidFill>
              </a:rPr>
              <a:t> data extraction</a:t>
            </a:r>
          </a:p>
        </p:txBody>
      </p:sp>
    </p:spTree>
    <p:extLst>
      <p:ext uri="{BB962C8B-B14F-4D97-AF65-F5344CB8AC3E}">
        <p14:creationId xmlns:p14="http://schemas.microsoft.com/office/powerpoint/2010/main" val="160487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45FCD-C898-3158-A8F3-39170B906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699908-B1CA-69CE-B602-7163874C3993}"/>
              </a:ext>
            </a:extLst>
          </p:cNvPr>
          <p:cNvSpPr>
            <a:spLocks noGrp="1"/>
          </p:cNvSpPr>
          <p:nvPr>
            <p:ph type="title"/>
          </p:nvPr>
        </p:nvSpPr>
        <p:spPr/>
        <p:txBody>
          <a:bodyPr/>
          <a:lstStyle/>
          <a:p>
            <a:r>
              <a:rPr lang="en-CA"/>
              <a:t>Selecting the Data</a:t>
            </a:r>
          </a:p>
        </p:txBody>
      </p:sp>
      <p:sp>
        <p:nvSpPr>
          <p:cNvPr id="3" name="Content Placeholder 2">
            <a:extLst>
              <a:ext uri="{FF2B5EF4-FFF2-40B4-BE49-F238E27FC236}">
                <a16:creationId xmlns:a16="http://schemas.microsoft.com/office/drawing/2014/main" id="{CB10A779-92C2-B5EB-F696-6FC39D0CB343}"/>
              </a:ext>
            </a:extLst>
          </p:cNvPr>
          <p:cNvSpPr>
            <a:spLocks noGrp="1"/>
          </p:cNvSpPr>
          <p:nvPr>
            <p:ph idx="1"/>
          </p:nvPr>
        </p:nvSpPr>
        <p:spPr>
          <a:xfrm>
            <a:off x="1143000" y="5053349"/>
            <a:ext cx="9906000" cy="1830926"/>
          </a:xfrm>
        </p:spPr>
        <p:txBody>
          <a:bodyPr vert="horz" lIns="91440" tIns="45720" rIns="91440" bIns="45720" rtlCol="0" anchor="t">
            <a:normAutofit/>
          </a:bodyPr>
          <a:lstStyle/>
          <a:p>
            <a:pPr marL="0" indent="0">
              <a:buNone/>
            </a:pPr>
            <a:r>
              <a:rPr lang="en-CA"/>
              <a:t>We also select </a:t>
            </a:r>
            <a:r>
              <a:rPr lang="en-CA" b="1" err="1"/>
              <a:t>ga_session_id</a:t>
            </a:r>
            <a:r>
              <a:rPr lang="en-CA" b="1"/>
              <a:t> </a:t>
            </a:r>
            <a:r>
              <a:rPr lang="en-CA"/>
              <a:t>and </a:t>
            </a:r>
            <a:r>
              <a:rPr lang="en-CA" b="1" err="1"/>
              <a:t>page_location</a:t>
            </a:r>
            <a:r>
              <a:rPr lang="en-CA" b="1"/>
              <a:t> </a:t>
            </a:r>
            <a:r>
              <a:rPr lang="en-CA"/>
              <a:t>from the EP </a:t>
            </a:r>
            <a:r>
              <a:rPr lang="en-CA" err="1"/>
              <a:t>dataframe</a:t>
            </a:r>
            <a:r>
              <a:rPr lang="en-CA"/>
              <a:t> we selected earlier. </a:t>
            </a:r>
            <a:br>
              <a:rPr lang="en-CA"/>
            </a:br>
            <a:r>
              <a:rPr lang="en-CA"/>
              <a:t>The coalesce function is used to avoid Null values being collected by either collecting a </a:t>
            </a:r>
            <a:r>
              <a:rPr lang="en-CA" b="1"/>
              <a:t>string</a:t>
            </a:r>
            <a:r>
              <a:rPr lang="en-CA"/>
              <a:t> directly from the </a:t>
            </a:r>
            <a:r>
              <a:rPr lang="en-CA" err="1"/>
              <a:t>dataframe</a:t>
            </a:r>
            <a:r>
              <a:rPr lang="en-CA"/>
              <a:t>, or </a:t>
            </a:r>
            <a:r>
              <a:rPr lang="en-CA" b="1"/>
              <a:t>converting</a:t>
            </a:r>
            <a:r>
              <a:rPr lang="en-CA"/>
              <a:t> any potential integer values </a:t>
            </a:r>
            <a:r>
              <a:rPr lang="en-CA" b="1"/>
              <a:t>to a string</a:t>
            </a:r>
          </a:p>
        </p:txBody>
      </p:sp>
      <p:pic>
        <p:nvPicPr>
          <p:cNvPr id="8" name="Picture 7">
            <a:extLst>
              <a:ext uri="{FF2B5EF4-FFF2-40B4-BE49-F238E27FC236}">
                <a16:creationId xmlns:a16="http://schemas.microsoft.com/office/drawing/2014/main" id="{296B40D4-6DA8-D809-FE03-83A22410ACB9}"/>
              </a:ext>
            </a:extLst>
          </p:cNvPr>
          <p:cNvPicPr>
            <a:picLocks noChangeAspect="1"/>
          </p:cNvPicPr>
          <p:nvPr/>
        </p:nvPicPr>
        <p:blipFill>
          <a:blip r:embed="rId2"/>
          <a:stretch>
            <a:fillRect/>
          </a:stretch>
        </p:blipFill>
        <p:spPr>
          <a:xfrm>
            <a:off x="2195760" y="1582683"/>
            <a:ext cx="6890355" cy="3359761"/>
          </a:xfrm>
          <a:prstGeom prst="rect">
            <a:avLst/>
          </a:prstGeom>
        </p:spPr>
      </p:pic>
      <p:sp>
        <p:nvSpPr>
          <p:cNvPr id="7" name="Title 1">
            <a:extLst>
              <a:ext uri="{FF2B5EF4-FFF2-40B4-BE49-F238E27FC236}">
                <a16:creationId xmlns:a16="http://schemas.microsoft.com/office/drawing/2014/main" id="{2B7F456A-9216-1F2A-E570-D76F1F2C4BC3}"/>
              </a:ext>
            </a:extLst>
          </p:cNvPr>
          <p:cNvSpPr txBox="1">
            <a:spLocks/>
          </p:cNvSpPr>
          <p:nvPr/>
        </p:nvSpPr>
        <p:spPr>
          <a:xfrm>
            <a:off x="9368482" y="-55605"/>
            <a:ext cx="4324865" cy="620155"/>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400" b="1" err="1">
                <a:solidFill>
                  <a:srgbClr val="0069A2"/>
                </a:solidFill>
              </a:rPr>
              <a:t>Bigquery</a:t>
            </a:r>
            <a:r>
              <a:rPr lang="en-CA" sz="1400" b="1">
                <a:solidFill>
                  <a:srgbClr val="0069A2"/>
                </a:solidFill>
              </a:rPr>
              <a:t> data extraction</a:t>
            </a:r>
          </a:p>
        </p:txBody>
      </p:sp>
    </p:spTree>
    <p:extLst>
      <p:ext uri="{BB962C8B-B14F-4D97-AF65-F5344CB8AC3E}">
        <p14:creationId xmlns:p14="http://schemas.microsoft.com/office/powerpoint/2010/main" val="597079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A2F55-2A0D-2731-32B0-558314887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40B832-9A8B-B58F-0A95-0D25A867318F}"/>
              </a:ext>
            </a:extLst>
          </p:cNvPr>
          <p:cNvSpPr>
            <a:spLocks noGrp="1"/>
          </p:cNvSpPr>
          <p:nvPr>
            <p:ph type="title"/>
          </p:nvPr>
        </p:nvSpPr>
        <p:spPr/>
        <p:txBody>
          <a:bodyPr/>
          <a:lstStyle/>
          <a:p>
            <a:r>
              <a:rPr lang="en-CA"/>
              <a:t>Filtering By Date</a:t>
            </a:r>
          </a:p>
        </p:txBody>
      </p:sp>
      <p:sp>
        <p:nvSpPr>
          <p:cNvPr id="3" name="Content Placeholder 2">
            <a:extLst>
              <a:ext uri="{FF2B5EF4-FFF2-40B4-BE49-F238E27FC236}">
                <a16:creationId xmlns:a16="http://schemas.microsoft.com/office/drawing/2014/main" id="{7805ECA1-8961-EDFB-1909-7ADF625FEB00}"/>
              </a:ext>
            </a:extLst>
          </p:cNvPr>
          <p:cNvSpPr>
            <a:spLocks noGrp="1"/>
          </p:cNvSpPr>
          <p:nvPr>
            <p:ph idx="1"/>
          </p:nvPr>
        </p:nvSpPr>
        <p:spPr>
          <a:xfrm>
            <a:off x="1143000" y="5053349"/>
            <a:ext cx="9906000" cy="1830926"/>
          </a:xfrm>
        </p:spPr>
        <p:txBody>
          <a:bodyPr vert="horz" lIns="91440" tIns="45720" rIns="91440" bIns="45720" rtlCol="0" anchor="t">
            <a:normAutofit/>
          </a:bodyPr>
          <a:lstStyle/>
          <a:p>
            <a:pPr marL="0" indent="0">
              <a:buNone/>
            </a:pPr>
            <a:r>
              <a:rPr lang="en-CA"/>
              <a:t>We use a simple between statement to ensure the data pulled from the </a:t>
            </a:r>
            <a:r>
              <a:rPr lang="en-CA" err="1"/>
              <a:t>dataframe</a:t>
            </a:r>
            <a:r>
              <a:rPr lang="en-CA"/>
              <a:t> is only from the dates selected (Dec 1</a:t>
            </a:r>
            <a:r>
              <a:rPr lang="en-CA" baseline="30000"/>
              <a:t>st</a:t>
            </a:r>
            <a:r>
              <a:rPr lang="en-CA"/>
              <a:t> - 7</a:t>
            </a:r>
            <a:r>
              <a:rPr lang="en-CA" baseline="30000"/>
              <a:t>th</a:t>
            </a:r>
            <a:r>
              <a:rPr lang="en-CA"/>
              <a:t> 2020)</a:t>
            </a:r>
            <a:endParaRPr lang="en-CA" b="1"/>
          </a:p>
        </p:txBody>
      </p:sp>
      <p:pic>
        <p:nvPicPr>
          <p:cNvPr id="5" name="Picture 4">
            <a:extLst>
              <a:ext uri="{FF2B5EF4-FFF2-40B4-BE49-F238E27FC236}">
                <a16:creationId xmlns:a16="http://schemas.microsoft.com/office/drawing/2014/main" id="{6BB55240-C656-9947-5EBD-2E39B8A10803}"/>
              </a:ext>
            </a:extLst>
          </p:cNvPr>
          <p:cNvPicPr>
            <a:picLocks noChangeAspect="1"/>
          </p:cNvPicPr>
          <p:nvPr/>
        </p:nvPicPr>
        <p:blipFill>
          <a:blip r:embed="rId2"/>
          <a:stretch>
            <a:fillRect/>
          </a:stretch>
        </p:blipFill>
        <p:spPr>
          <a:xfrm>
            <a:off x="1944391" y="2649737"/>
            <a:ext cx="8303218" cy="834716"/>
          </a:xfrm>
          <a:prstGeom prst="rect">
            <a:avLst/>
          </a:prstGeom>
        </p:spPr>
      </p:pic>
      <p:sp>
        <p:nvSpPr>
          <p:cNvPr id="8" name="Title 1">
            <a:extLst>
              <a:ext uri="{FF2B5EF4-FFF2-40B4-BE49-F238E27FC236}">
                <a16:creationId xmlns:a16="http://schemas.microsoft.com/office/drawing/2014/main" id="{F0805322-D661-A9DE-2FC8-3F396244055A}"/>
              </a:ext>
            </a:extLst>
          </p:cNvPr>
          <p:cNvSpPr txBox="1">
            <a:spLocks/>
          </p:cNvSpPr>
          <p:nvPr/>
        </p:nvSpPr>
        <p:spPr>
          <a:xfrm>
            <a:off x="9368482" y="-55605"/>
            <a:ext cx="4324865" cy="620155"/>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400" b="1" err="1">
                <a:solidFill>
                  <a:srgbClr val="0069A2"/>
                </a:solidFill>
              </a:rPr>
              <a:t>Bigquery</a:t>
            </a:r>
            <a:r>
              <a:rPr lang="en-CA" sz="1400" b="1">
                <a:solidFill>
                  <a:srgbClr val="0069A2"/>
                </a:solidFill>
              </a:rPr>
              <a:t> data extraction</a:t>
            </a:r>
          </a:p>
        </p:txBody>
      </p:sp>
    </p:spTree>
    <p:extLst>
      <p:ext uri="{BB962C8B-B14F-4D97-AF65-F5344CB8AC3E}">
        <p14:creationId xmlns:p14="http://schemas.microsoft.com/office/powerpoint/2010/main" val="2912944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F7934-C871-E958-0A89-8E2BCA7CB1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7CD07-13B2-7475-2CD7-2151A6E8BD36}"/>
              </a:ext>
            </a:extLst>
          </p:cNvPr>
          <p:cNvSpPr>
            <a:spLocks noGrp="1"/>
          </p:cNvSpPr>
          <p:nvPr>
            <p:ph type="title"/>
          </p:nvPr>
        </p:nvSpPr>
        <p:spPr/>
        <p:txBody>
          <a:bodyPr/>
          <a:lstStyle/>
          <a:p>
            <a:r>
              <a:rPr lang="en-CA"/>
              <a:t>Grouping the </a:t>
            </a:r>
            <a:r>
              <a:rPr lang="en-CA" err="1"/>
              <a:t>DAta</a:t>
            </a:r>
            <a:r>
              <a:rPr lang="en-CA"/>
              <a:t>	</a:t>
            </a:r>
          </a:p>
        </p:txBody>
      </p:sp>
      <p:sp>
        <p:nvSpPr>
          <p:cNvPr id="3" name="Content Placeholder 2">
            <a:extLst>
              <a:ext uri="{FF2B5EF4-FFF2-40B4-BE49-F238E27FC236}">
                <a16:creationId xmlns:a16="http://schemas.microsoft.com/office/drawing/2014/main" id="{A7C8EF60-3C2E-EB9B-5C97-A04383BE3B03}"/>
              </a:ext>
            </a:extLst>
          </p:cNvPr>
          <p:cNvSpPr>
            <a:spLocks noGrp="1"/>
          </p:cNvSpPr>
          <p:nvPr>
            <p:ph idx="1"/>
          </p:nvPr>
        </p:nvSpPr>
        <p:spPr>
          <a:xfrm>
            <a:off x="1143000" y="5053349"/>
            <a:ext cx="9906000" cy="1830926"/>
          </a:xfrm>
        </p:spPr>
        <p:txBody>
          <a:bodyPr vert="horz" lIns="91440" tIns="45720" rIns="91440" bIns="45720" rtlCol="0" anchor="t">
            <a:normAutofit/>
          </a:bodyPr>
          <a:lstStyle/>
          <a:p>
            <a:pPr marL="0" indent="0">
              <a:buNone/>
            </a:pPr>
            <a:r>
              <a:rPr lang="en-CA"/>
              <a:t>There is likely to be multiple rows per session because of the nested parameters, so we have grouped the data by date, name, timestamp and </a:t>
            </a:r>
            <a:r>
              <a:rPr lang="en-CA" err="1"/>
              <a:t>pseudo_ID</a:t>
            </a:r>
            <a:r>
              <a:rPr lang="en-CA"/>
              <a:t> to ensure we get </a:t>
            </a:r>
            <a:r>
              <a:rPr lang="en-CA" b="1"/>
              <a:t>one unique event </a:t>
            </a:r>
            <a:r>
              <a:rPr lang="en-CA"/>
              <a:t>with all of the attributes</a:t>
            </a:r>
          </a:p>
        </p:txBody>
      </p:sp>
      <p:pic>
        <p:nvPicPr>
          <p:cNvPr id="7" name="Picture 6">
            <a:extLst>
              <a:ext uri="{FF2B5EF4-FFF2-40B4-BE49-F238E27FC236}">
                <a16:creationId xmlns:a16="http://schemas.microsoft.com/office/drawing/2014/main" id="{6D94C191-7AED-6916-1812-EF2EC17D73CE}"/>
              </a:ext>
            </a:extLst>
          </p:cNvPr>
          <p:cNvPicPr>
            <a:picLocks noChangeAspect="1"/>
          </p:cNvPicPr>
          <p:nvPr/>
        </p:nvPicPr>
        <p:blipFill>
          <a:blip r:embed="rId2"/>
          <a:stretch>
            <a:fillRect/>
          </a:stretch>
        </p:blipFill>
        <p:spPr>
          <a:xfrm>
            <a:off x="3246575" y="2137196"/>
            <a:ext cx="5698849" cy="2274189"/>
          </a:xfrm>
          <a:prstGeom prst="rect">
            <a:avLst/>
          </a:prstGeom>
        </p:spPr>
      </p:pic>
      <p:sp>
        <p:nvSpPr>
          <p:cNvPr id="8" name="Title 1">
            <a:extLst>
              <a:ext uri="{FF2B5EF4-FFF2-40B4-BE49-F238E27FC236}">
                <a16:creationId xmlns:a16="http://schemas.microsoft.com/office/drawing/2014/main" id="{298132BF-9306-3E71-F808-6E8F8BC6A7C6}"/>
              </a:ext>
            </a:extLst>
          </p:cNvPr>
          <p:cNvSpPr txBox="1">
            <a:spLocks/>
          </p:cNvSpPr>
          <p:nvPr/>
        </p:nvSpPr>
        <p:spPr>
          <a:xfrm>
            <a:off x="9368482" y="-55605"/>
            <a:ext cx="4324865" cy="620155"/>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400" b="1" err="1">
                <a:solidFill>
                  <a:srgbClr val="0069A2"/>
                </a:solidFill>
              </a:rPr>
              <a:t>Bigquery</a:t>
            </a:r>
            <a:r>
              <a:rPr lang="en-CA" sz="1400" b="1">
                <a:solidFill>
                  <a:srgbClr val="0069A2"/>
                </a:solidFill>
              </a:rPr>
              <a:t> data extraction</a:t>
            </a:r>
          </a:p>
        </p:txBody>
      </p:sp>
    </p:spTree>
    <p:extLst>
      <p:ext uri="{BB962C8B-B14F-4D97-AF65-F5344CB8AC3E}">
        <p14:creationId xmlns:p14="http://schemas.microsoft.com/office/powerpoint/2010/main" val="1012240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88F6E-76A2-3660-1265-C318A94193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112FBD-A0D4-D18B-BDFB-B8A3978ADC37}"/>
              </a:ext>
            </a:extLst>
          </p:cNvPr>
          <p:cNvSpPr>
            <a:spLocks noGrp="1"/>
          </p:cNvSpPr>
          <p:nvPr>
            <p:ph type="title"/>
          </p:nvPr>
        </p:nvSpPr>
        <p:spPr/>
        <p:txBody>
          <a:bodyPr/>
          <a:lstStyle/>
          <a:p>
            <a:r>
              <a:rPr lang="en-CA"/>
              <a:t>Sorting the data</a:t>
            </a:r>
          </a:p>
        </p:txBody>
      </p:sp>
      <p:sp>
        <p:nvSpPr>
          <p:cNvPr id="3" name="Content Placeholder 2">
            <a:extLst>
              <a:ext uri="{FF2B5EF4-FFF2-40B4-BE49-F238E27FC236}">
                <a16:creationId xmlns:a16="http://schemas.microsoft.com/office/drawing/2014/main" id="{6BBF63BD-DA6E-6B1F-35C4-3650E6AC3D3F}"/>
              </a:ext>
            </a:extLst>
          </p:cNvPr>
          <p:cNvSpPr>
            <a:spLocks noGrp="1"/>
          </p:cNvSpPr>
          <p:nvPr>
            <p:ph idx="1"/>
          </p:nvPr>
        </p:nvSpPr>
        <p:spPr>
          <a:xfrm>
            <a:off x="1143000" y="5053349"/>
            <a:ext cx="9906000" cy="1830926"/>
          </a:xfrm>
        </p:spPr>
        <p:txBody>
          <a:bodyPr vert="horz" lIns="91440" tIns="45720" rIns="91440" bIns="45720" rtlCol="0" anchor="t">
            <a:normAutofit/>
          </a:bodyPr>
          <a:lstStyle/>
          <a:p>
            <a:pPr marL="0" indent="0">
              <a:buNone/>
            </a:pPr>
            <a:r>
              <a:rPr lang="en-CA"/>
              <a:t>Finally, we ordered the data by timestamp, putting in chronological order from oldest to newest, another useful way to sort it may have been to sort it first by </a:t>
            </a:r>
          </a:p>
        </p:txBody>
      </p:sp>
      <p:pic>
        <p:nvPicPr>
          <p:cNvPr id="5" name="Picture 4">
            <a:extLst>
              <a:ext uri="{FF2B5EF4-FFF2-40B4-BE49-F238E27FC236}">
                <a16:creationId xmlns:a16="http://schemas.microsoft.com/office/drawing/2014/main" id="{BED5D00C-A369-4D6E-323E-B2A488CD763F}"/>
              </a:ext>
            </a:extLst>
          </p:cNvPr>
          <p:cNvPicPr>
            <a:picLocks noChangeAspect="1"/>
          </p:cNvPicPr>
          <p:nvPr/>
        </p:nvPicPr>
        <p:blipFill>
          <a:blip r:embed="rId2"/>
          <a:stretch>
            <a:fillRect/>
          </a:stretch>
        </p:blipFill>
        <p:spPr>
          <a:xfrm>
            <a:off x="3540618" y="2700430"/>
            <a:ext cx="5110764" cy="1382156"/>
          </a:xfrm>
          <a:prstGeom prst="rect">
            <a:avLst/>
          </a:prstGeom>
        </p:spPr>
      </p:pic>
      <p:sp>
        <p:nvSpPr>
          <p:cNvPr id="7" name="Title 1">
            <a:extLst>
              <a:ext uri="{FF2B5EF4-FFF2-40B4-BE49-F238E27FC236}">
                <a16:creationId xmlns:a16="http://schemas.microsoft.com/office/drawing/2014/main" id="{F2016CF4-04B0-3E28-3A89-A4EC793ADF5A}"/>
              </a:ext>
            </a:extLst>
          </p:cNvPr>
          <p:cNvSpPr txBox="1">
            <a:spLocks/>
          </p:cNvSpPr>
          <p:nvPr/>
        </p:nvSpPr>
        <p:spPr>
          <a:xfrm>
            <a:off x="9368482" y="-55605"/>
            <a:ext cx="4324865" cy="620155"/>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400" b="1" err="1">
                <a:solidFill>
                  <a:srgbClr val="0069A2"/>
                </a:solidFill>
              </a:rPr>
              <a:t>Bigquery</a:t>
            </a:r>
            <a:r>
              <a:rPr lang="en-CA" sz="1400" b="1">
                <a:solidFill>
                  <a:srgbClr val="0069A2"/>
                </a:solidFill>
              </a:rPr>
              <a:t> data extraction</a:t>
            </a:r>
          </a:p>
        </p:txBody>
      </p:sp>
    </p:spTree>
    <p:extLst>
      <p:ext uri="{BB962C8B-B14F-4D97-AF65-F5344CB8AC3E}">
        <p14:creationId xmlns:p14="http://schemas.microsoft.com/office/powerpoint/2010/main" val="2829944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BD674-2177-56A3-EF0A-068F0F0A87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32E9E6-E761-90B8-4062-B2545A702570}"/>
              </a:ext>
            </a:extLst>
          </p:cNvPr>
          <p:cNvSpPr>
            <a:spLocks noGrp="1"/>
          </p:cNvSpPr>
          <p:nvPr>
            <p:ph type="title"/>
          </p:nvPr>
        </p:nvSpPr>
        <p:spPr/>
        <p:txBody>
          <a:bodyPr/>
          <a:lstStyle/>
          <a:p>
            <a:r>
              <a:rPr lang="en-CA"/>
              <a:t>Output</a:t>
            </a:r>
          </a:p>
        </p:txBody>
      </p:sp>
      <p:sp>
        <p:nvSpPr>
          <p:cNvPr id="3" name="Content Placeholder 2">
            <a:extLst>
              <a:ext uri="{FF2B5EF4-FFF2-40B4-BE49-F238E27FC236}">
                <a16:creationId xmlns:a16="http://schemas.microsoft.com/office/drawing/2014/main" id="{E1525562-2588-A919-AE7C-1912D4078A83}"/>
              </a:ext>
            </a:extLst>
          </p:cNvPr>
          <p:cNvSpPr>
            <a:spLocks noGrp="1"/>
          </p:cNvSpPr>
          <p:nvPr>
            <p:ph idx="1"/>
          </p:nvPr>
        </p:nvSpPr>
        <p:spPr>
          <a:xfrm>
            <a:off x="1755865" y="5861780"/>
            <a:ext cx="8680269" cy="703445"/>
          </a:xfrm>
        </p:spPr>
        <p:txBody>
          <a:bodyPr vert="horz" lIns="91440" tIns="45720" rIns="91440" bIns="45720" rtlCol="0" anchor="t">
            <a:normAutofit fontScale="92500"/>
          </a:bodyPr>
          <a:lstStyle/>
          <a:p>
            <a:pPr marL="0" indent="0" algn="ctr">
              <a:buNone/>
            </a:pPr>
            <a:r>
              <a:rPr lang="en-CA"/>
              <a:t>After running the query, we get a huge output, 443,706 rows of unique events</a:t>
            </a:r>
          </a:p>
        </p:txBody>
      </p:sp>
      <p:sp>
        <p:nvSpPr>
          <p:cNvPr id="7" name="Title 1">
            <a:extLst>
              <a:ext uri="{FF2B5EF4-FFF2-40B4-BE49-F238E27FC236}">
                <a16:creationId xmlns:a16="http://schemas.microsoft.com/office/drawing/2014/main" id="{1AEEE3B5-32B8-5973-C332-558B8244760F}"/>
              </a:ext>
            </a:extLst>
          </p:cNvPr>
          <p:cNvSpPr txBox="1">
            <a:spLocks/>
          </p:cNvSpPr>
          <p:nvPr/>
        </p:nvSpPr>
        <p:spPr>
          <a:xfrm>
            <a:off x="9368482" y="-55605"/>
            <a:ext cx="4324865" cy="620155"/>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400" b="1" err="1">
                <a:solidFill>
                  <a:srgbClr val="0069A2"/>
                </a:solidFill>
              </a:rPr>
              <a:t>Bigquery</a:t>
            </a:r>
            <a:r>
              <a:rPr lang="en-CA" sz="1400" b="1">
                <a:solidFill>
                  <a:srgbClr val="0069A2"/>
                </a:solidFill>
              </a:rPr>
              <a:t> data extraction</a:t>
            </a:r>
          </a:p>
        </p:txBody>
      </p:sp>
      <p:pic>
        <p:nvPicPr>
          <p:cNvPr id="6" name="Picture 5">
            <a:extLst>
              <a:ext uri="{FF2B5EF4-FFF2-40B4-BE49-F238E27FC236}">
                <a16:creationId xmlns:a16="http://schemas.microsoft.com/office/drawing/2014/main" id="{993826A3-0D6A-0F57-C075-8E6BE4EEE4BA}"/>
              </a:ext>
            </a:extLst>
          </p:cNvPr>
          <p:cNvPicPr>
            <a:picLocks noChangeAspect="1"/>
          </p:cNvPicPr>
          <p:nvPr/>
        </p:nvPicPr>
        <p:blipFill>
          <a:blip r:embed="rId2"/>
          <a:stretch>
            <a:fillRect/>
          </a:stretch>
        </p:blipFill>
        <p:spPr>
          <a:xfrm>
            <a:off x="519764" y="1508437"/>
            <a:ext cx="11152472" cy="4299648"/>
          </a:xfrm>
          <a:prstGeom prst="rect">
            <a:avLst/>
          </a:prstGeom>
        </p:spPr>
      </p:pic>
      <p:sp>
        <p:nvSpPr>
          <p:cNvPr id="10" name="Arrow: Down 9">
            <a:extLst>
              <a:ext uri="{FF2B5EF4-FFF2-40B4-BE49-F238E27FC236}">
                <a16:creationId xmlns:a16="http://schemas.microsoft.com/office/drawing/2014/main" id="{DCE7B5E4-9EC1-6B0F-3C14-223A5CBA772D}"/>
              </a:ext>
            </a:extLst>
          </p:cNvPr>
          <p:cNvSpPr/>
          <p:nvPr/>
        </p:nvSpPr>
        <p:spPr>
          <a:xfrm rot="2389766" flipV="1">
            <a:off x="10837088" y="5670924"/>
            <a:ext cx="481584" cy="8372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528927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BAFD5-C943-0C38-8A5A-BE7F7455F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8B916-1BD4-CB80-8D95-BBF5896CEEF9}"/>
              </a:ext>
            </a:extLst>
          </p:cNvPr>
          <p:cNvSpPr>
            <a:spLocks noGrp="1"/>
          </p:cNvSpPr>
          <p:nvPr>
            <p:ph type="title"/>
          </p:nvPr>
        </p:nvSpPr>
        <p:spPr>
          <a:xfrm>
            <a:off x="850392" y="60219"/>
            <a:ext cx="9906000" cy="1382156"/>
          </a:xfrm>
        </p:spPr>
        <p:txBody>
          <a:bodyPr/>
          <a:lstStyle/>
          <a:p>
            <a:r>
              <a:rPr lang="en-CA"/>
              <a:t>Exploratory Analysis</a:t>
            </a:r>
          </a:p>
        </p:txBody>
      </p:sp>
      <p:sp>
        <p:nvSpPr>
          <p:cNvPr id="3" name="Content Placeholder 2">
            <a:extLst>
              <a:ext uri="{FF2B5EF4-FFF2-40B4-BE49-F238E27FC236}">
                <a16:creationId xmlns:a16="http://schemas.microsoft.com/office/drawing/2014/main" id="{3EB1E255-339B-F4B5-1D94-00AB7F43740B}"/>
              </a:ext>
            </a:extLst>
          </p:cNvPr>
          <p:cNvSpPr>
            <a:spLocks noGrp="1"/>
          </p:cNvSpPr>
          <p:nvPr>
            <p:ph idx="1"/>
          </p:nvPr>
        </p:nvSpPr>
        <p:spPr>
          <a:xfrm>
            <a:off x="705231" y="5395226"/>
            <a:ext cx="4507774" cy="1060438"/>
          </a:xfrm>
        </p:spPr>
        <p:txBody>
          <a:bodyPr vert="horz" lIns="91440" tIns="45720" rIns="91440" bIns="45720" rtlCol="0" anchor="t">
            <a:normAutofit fontScale="92500" lnSpcReduction="10000"/>
          </a:bodyPr>
          <a:lstStyle/>
          <a:p>
            <a:pPr marL="0" indent="0" algn="ctr">
              <a:buNone/>
            </a:pPr>
            <a:r>
              <a:rPr lang="en-CA" dirty="0"/>
              <a:t>We take a quick look at the distribution of event type, looking for anything unusual, everything is fairly standard.</a:t>
            </a:r>
          </a:p>
        </p:txBody>
      </p:sp>
      <p:sp>
        <p:nvSpPr>
          <p:cNvPr id="7" name="Title 1">
            <a:extLst>
              <a:ext uri="{FF2B5EF4-FFF2-40B4-BE49-F238E27FC236}">
                <a16:creationId xmlns:a16="http://schemas.microsoft.com/office/drawing/2014/main" id="{B2D81121-7DD3-8331-360A-5361BB2060DD}"/>
              </a:ext>
            </a:extLst>
          </p:cNvPr>
          <p:cNvSpPr txBox="1">
            <a:spLocks/>
          </p:cNvSpPr>
          <p:nvPr/>
        </p:nvSpPr>
        <p:spPr>
          <a:xfrm>
            <a:off x="9368482" y="-55605"/>
            <a:ext cx="4324865" cy="620155"/>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400" b="1" err="1">
                <a:solidFill>
                  <a:srgbClr val="0069A2"/>
                </a:solidFill>
              </a:rPr>
              <a:t>Bigquery</a:t>
            </a:r>
            <a:r>
              <a:rPr lang="en-CA" sz="1400" b="1">
                <a:solidFill>
                  <a:srgbClr val="0069A2"/>
                </a:solidFill>
              </a:rPr>
              <a:t> data extraction</a:t>
            </a:r>
          </a:p>
        </p:txBody>
      </p:sp>
      <p:pic>
        <p:nvPicPr>
          <p:cNvPr id="5" name="Picture 4" descr="A pie chart with different colored circles&#10;&#10;AI-generated content may be incorrect.">
            <a:extLst>
              <a:ext uri="{FF2B5EF4-FFF2-40B4-BE49-F238E27FC236}">
                <a16:creationId xmlns:a16="http://schemas.microsoft.com/office/drawing/2014/main" id="{133BDB03-AE9C-93D2-3CEC-28FEA93E9F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231" y="1558199"/>
            <a:ext cx="5276850" cy="3505200"/>
          </a:xfrm>
          <a:prstGeom prst="rect">
            <a:avLst/>
          </a:prstGeom>
        </p:spPr>
      </p:pic>
      <p:pic>
        <p:nvPicPr>
          <p:cNvPr id="9" name="Picture 8" descr="A graph of a number of blue bars&#10;&#10;AI-generated content may be incorrect.">
            <a:extLst>
              <a:ext uri="{FF2B5EF4-FFF2-40B4-BE49-F238E27FC236}">
                <a16:creationId xmlns:a16="http://schemas.microsoft.com/office/drawing/2014/main" id="{1BEAF0F9-34C2-2869-0108-4624AA9C6C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5950" y="1558199"/>
            <a:ext cx="6699746" cy="3123190"/>
          </a:xfrm>
          <a:prstGeom prst="rect">
            <a:avLst/>
          </a:prstGeom>
        </p:spPr>
      </p:pic>
      <p:sp>
        <p:nvSpPr>
          <p:cNvPr id="11" name="Content Placeholder 2">
            <a:extLst>
              <a:ext uri="{FF2B5EF4-FFF2-40B4-BE49-F238E27FC236}">
                <a16:creationId xmlns:a16="http://schemas.microsoft.com/office/drawing/2014/main" id="{13F961E3-88CB-FC2D-93A7-5641BA4F3972}"/>
              </a:ext>
            </a:extLst>
          </p:cNvPr>
          <p:cNvSpPr txBox="1">
            <a:spLocks/>
          </p:cNvSpPr>
          <p:nvPr/>
        </p:nvSpPr>
        <p:spPr>
          <a:xfrm>
            <a:off x="6798552" y="5299801"/>
            <a:ext cx="4507774" cy="1060438"/>
          </a:xfrm>
          <a:prstGeom prst="rect">
            <a:avLst/>
          </a:prstGeom>
        </p:spPr>
        <p:txBody>
          <a:bodyPr vert="horz" lIns="91440" tIns="45720" rIns="91440" bIns="45720" rtlCol="0" anchor="t">
            <a:normAutofit fontScale="92500" lnSpcReduction="10000"/>
          </a:bodyPr>
          <a:lst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A"/>
              <a:t>Considerably more people added their shipping and payment info than actually made a purchase.</a:t>
            </a:r>
          </a:p>
        </p:txBody>
      </p:sp>
      <p:cxnSp>
        <p:nvCxnSpPr>
          <p:cNvPr id="13" name="Straight Arrow Connector 12">
            <a:extLst>
              <a:ext uri="{FF2B5EF4-FFF2-40B4-BE49-F238E27FC236}">
                <a16:creationId xmlns:a16="http://schemas.microsoft.com/office/drawing/2014/main" id="{E05D0470-DD78-E846-1228-B7B196DCEAF1}"/>
              </a:ext>
            </a:extLst>
          </p:cNvPr>
          <p:cNvCxnSpPr>
            <a:cxnSpLocks/>
          </p:cNvCxnSpPr>
          <p:nvPr/>
        </p:nvCxnSpPr>
        <p:spPr>
          <a:xfrm flipV="1">
            <a:off x="9390888" y="4480560"/>
            <a:ext cx="475488" cy="8046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DD5ED64-F3CF-9B8D-37FC-01041DB9248E}"/>
              </a:ext>
            </a:extLst>
          </p:cNvPr>
          <p:cNvCxnSpPr>
            <a:cxnSpLocks/>
          </p:cNvCxnSpPr>
          <p:nvPr/>
        </p:nvCxnSpPr>
        <p:spPr>
          <a:xfrm flipV="1">
            <a:off x="9368482" y="4480560"/>
            <a:ext cx="744782" cy="819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6955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with blue bars&#10;&#10;AI-generated content may be incorrect.">
            <a:extLst>
              <a:ext uri="{FF2B5EF4-FFF2-40B4-BE49-F238E27FC236}">
                <a16:creationId xmlns:a16="http://schemas.microsoft.com/office/drawing/2014/main" id="{DBDB0F3C-A8BF-951A-23CD-1AE84AB5BF7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31771" y="0"/>
            <a:ext cx="9420209" cy="6858000"/>
          </a:xfrm>
        </p:spPr>
      </p:pic>
      <p:sp>
        <p:nvSpPr>
          <p:cNvPr id="6" name="TextBox 5">
            <a:extLst>
              <a:ext uri="{FF2B5EF4-FFF2-40B4-BE49-F238E27FC236}">
                <a16:creationId xmlns:a16="http://schemas.microsoft.com/office/drawing/2014/main" id="{0FCB8816-EF81-867A-1FD7-FD863EB3DC02}"/>
              </a:ext>
            </a:extLst>
          </p:cNvPr>
          <p:cNvSpPr txBox="1"/>
          <p:nvPr/>
        </p:nvSpPr>
        <p:spPr>
          <a:xfrm rot="18925695">
            <a:off x="1502728" y="3140592"/>
            <a:ext cx="2447009" cy="400110"/>
          </a:xfrm>
          <a:prstGeom prst="rect">
            <a:avLst/>
          </a:prstGeom>
          <a:noFill/>
        </p:spPr>
        <p:txBody>
          <a:bodyPr wrap="square" lIns="91440" tIns="45720" rIns="91440" bIns="45720" rtlCol="0" anchor="t">
            <a:spAutoFit/>
          </a:bodyPr>
          <a:lstStyle/>
          <a:p>
            <a:r>
              <a:rPr lang="en-CA" sz="2000" b="1">
                <a:solidFill>
                  <a:srgbClr val="0070C0"/>
                </a:solidFill>
              </a:rPr>
              <a:t>Home Page</a:t>
            </a:r>
          </a:p>
        </p:txBody>
      </p:sp>
      <p:sp>
        <p:nvSpPr>
          <p:cNvPr id="7" name="TextBox 6">
            <a:extLst>
              <a:ext uri="{FF2B5EF4-FFF2-40B4-BE49-F238E27FC236}">
                <a16:creationId xmlns:a16="http://schemas.microsoft.com/office/drawing/2014/main" id="{73EFDC9C-A5F0-2518-8DDD-BAFCB65667C3}"/>
              </a:ext>
            </a:extLst>
          </p:cNvPr>
          <p:cNvSpPr txBox="1"/>
          <p:nvPr/>
        </p:nvSpPr>
        <p:spPr>
          <a:xfrm rot="18925695">
            <a:off x="2189187" y="3111372"/>
            <a:ext cx="2447009" cy="461665"/>
          </a:xfrm>
          <a:prstGeom prst="rect">
            <a:avLst/>
          </a:prstGeom>
          <a:noFill/>
        </p:spPr>
        <p:txBody>
          <a:bodyPr wrap="square" lIns="91440" tIns="45720" rIns="91440" bIns="45720" rtlCol="0" anchor="t">
            <a:spAutoFit/>
          </a:bodyPr>
          <a:lstStyle/>
          <a:p>
            <a:r>
              <a:rPr lang="en-CA" sz="2400" b="1">
                <a:solidFill>
                  <a:srgbClr val="0070C0"/>
                </a:solidFill>
              </a:rPr>
              <a:t>Basket</a:t>
            </a:r>
          </a:p>
        </p:txBody>
      </p:sp>
      <p:sp>
        <p:nvSpPr>
          <p:cNvPr id="8" name="TextBox 7">
            <a:extLst>
              <a:ext uri="{FF2B5EF4-FFF2-40B4-BE49-F238E27FC236}">
                <a16:creationId xmlns:a16="http://schemas.microsoft.com/office/drawing/2014/main" id="{315DC9BB-19F1-9A4E-BB11-BCBE47707CA8}"/>
              </a:ext>
            </a:extLst>
          </p:cNvPr>
          <p:cNvSpPr txBox="1"/>
          <p:nvPr/>
        </p:nvSpPr>
        <p:spPr>
          <a:xfrm rot="18925695">
            <a:off x="2790133" y="3196051"/>
            <a:ext cx="2447009" cy="400110"/>
          </a:xfrm>
          <a:prstGeom prst="rect">
            <a:avLst/>
          </a:prstGeom>
          <a:noFill/>
        </p:spPr>
        <p:txBody>
          <a:bodyPr wrap="square" lIns="91440" tIns="45720" rIns="91440" bIns="45720" rtlCol="0" anchor="t">
            <a:spAutoFit/>
          </a:bodyPr>
          <a:lstStyle/>
          <a:p>
            <a:r>
              <a:rPr lang="en-CA" sz="2000" b="1">
                <a:solidFill>
                  <a:srgbClr val="0070C0"/>
                </a:solidFill>
              </a:rPr>
              <a:t>Store Page</a:t>
            </a:r>
          </a:p>
        </p:txBody>
      </p:sp>
      <p:sp>
        <p:nvSpPr>
          <p:cNvPr id="9" name="TextBox 8">
            <a:extLst>
              <a:ext uri="{FF2B5EF4-FFF2-40B4-BE49-F238E27FC236}">
                <a16:creationId xmlns:a16="http://schemas.microsoft.com/office/drawing/2014/main" id="{8DAFEB98-EE25-0F2E-FD5C-5797CCA019D4}"/>
              </a:ext>
            </a:extLst>
          </p:cNvPr>
          <p:cNvSpPr txBox="1"/>
          <p:nvPr/>
        </p:nvSpPr>
        <p:spPr>
          <a:xfrm rot="18925695">
            <a:off x="3343337" y="3277511"/>
            <a:ext cx="2447009" cy="400110"/>
          </a:xfrm>
          <a:prstGeom prst="rect">
            <a:avLst/>
          </a:prstGeom>
          <a:noFill/>
        </p:spPr>
        <p:txBody>
          <a:bodyPr wrap="square" lIns="91440" tIns="45720" rIns="91440" bIns="45720" rtlCol="0" anchor="t">
            <a:spAutoFit/>
          </a:bodyPr>
          <a:lstStyle/>
          <a:p>
            <a:r>
              <a:rPr lang="en-CA" sz="2000" b="1">
                <a:solidFill>
                  <a:srgbClr val="0070C0"/>
                </a:solidFill>
              </a:rPr>
              <a:t>Apparel</a:t>
            </a:r>
          </a:p>
        </p:txBody>
      </p:sp>
      <p:sp>
        <p:nvSpPr>
          <p:cNvPr id="10" name="TextBox 9">
            <a:extLst>
              <a:ext uri="{FF2B5EF4-FFF2-40B4-BE49-F238E27FC236}">
                <a16:creationId xmlns:a16="http://schemas.microsoft.com/office/drawing/2014/main" id="{3ECE85E5-49C8-5321-BBB4-107D250015B7}"/>
              </a:ext>
            </a:extLst>
          </p:cNvPr>
          <p:cNvSpPr txBox="1"/>
          <p:nvPr/>
        </p:nvSpPr>
        <p:spPr>
          <a:xfrm rot="18925695">
            <a:off x="4023447" y="3295816"/>
            <a:ext cx="2447009" cy="400110"/>
          </a:xfrm>
          <a:prstGeom prst="rect">
            <a:avLst/>
          </a:prstGeom>
          <a:noFill/>
        </p:spPr>
        <p:txBody>
          <a:bodyPr wrap="square" lIns="91440" tIns="45720" rIns="91440" bIns="45720" rtlCol="0" anchor="t">
            <a:spAutoFit/>
          </a:bodyPr>
          <a:lstStyle/>
          <a:p>
            <a:r>
              <a:rPr lang="en-CA" sz="2000" b="1">
                <a:solidFill>
                  <a:srgbClr val="0070C0"/>
                </a:solidFill>
              </a:rPr>
              <a:t>Men’s</a:t>
            </a:r>
          </a:p>
        </p:txBody>
      </p:sp>
      <p:sp>
        <p:nvSpPr>
          <p:cNvPr id="12" name="TextBox 11">
            <a:extLst>
              <a:ext uri="{FF2B5EF4-FFF2-40B4-BE49-F238E27FC236}">
                <a16:creationId xmlns:a16="http://schemas.microsoft.com/office/drawing/2014/main" id="{CC6006DF-FABC-5CB8-F4E4-1CD24BC6339C}"/>
              </a:ext>
            </a:extLst>
          </p:cNvPr>
          <p:cNvSpPr txBox="1"/>
          <p:nvPr/>
        </p:nvSpPr>
        <p:spPr>
          <a:xfrm rot="18925695">
            <a:off x="4619848" y="3365311"/>
            <a:ext cx="2447009" cy="400110"/>
          </a:xfrm>
          <a:prstGeom prst="rect">
            <a:avLst/>
          </a:prstGeom>
          <a:noFill/>
        </p:spPr>
        <p:txBody>
          <a:bodyPr wrap="square" lIns="91440" tIns="45720" rIns="91440" bIns="45720" rtlCol="0" anchor="t">
            <a:spAutoFit/>
          </a:bodyPr>
          <a:lstStyle/>
          <a:p>
            <a:r>
              <a:rPr lang="en-CA" sz="2000" b="1">
                <a:solidFill>
                  <a:srgbClr val="0070C0"/>
                </a:solidFill>
              </a:rPr>
              <a:t>Sign-in Page</a:t>
            </a:r>
          </a:p>
        </p:txBody>
      </p:sp>
      <p:sp>
        <p:nvSpPr>
          <p:cNvPr id="13" name="TextBox 12">
            <a:extLst>
              <a:ext uri="{FF2B5EF4-FFF2-40B4-BE49-F238E27FC236}">
                <a16:creationId xmlns:a16="http://schemas.microsoft.com/office/drawing/2014/main" id="{F4008EAB-91F5-D818-7672-08D9CF83ACED}"/>
              </a:ext>
            </a:extLst>
          </p:cNvPr>
          <p:cNvSpPr txBox="1"/>
          <p:nvPr/>
        </p:nvSpPr>
        <p:spPr>
          <a:xfrm rot="18925695">
            <a:off x="5275381" y="3422071"/>
            <a:ext cx="2447009" cy="400110"/>
          </a:xfrm>
          <a:prstGeom prst="rect">
            <a:avLst/>
          </a:prstGeom>
          <a:noFill/>
        </p:spPr>
        <p:txBody>
          <a:bodyPr wrap="square" lIns="91440" tIns="45720" rIns="91440" bIns="45720" rtlCol="0" anchor="t">
            <a:spAutoFit/>
          </a:bodyPr>
          <a:lstStyle/>
          <a:p>
            <a:r>
              <a:rPr lang="en-CA" sz="2000" b="1">
                <a:solidFill>
                  <a:srgbClr val="0070C0"/>
                </a:solidFill>
              </a:rPr>
              <a:t>Clearance</a:t>
            </a:r>
          </a:p>
        </p:txBody>
      </p:sp>
      <p:sp>
        <p:nvSpPr>
          <p:cNvPr id="14" name="TextBox 13">
            <a:extLst>
              <a:ext uri="{FF2B5EF4-FFF2-40B4-BE49-F238E27FC236}">
                <a16:creationId xmlns:a16="http://schemas.microsoft.com/office/drawing/2014/main" id="{B5F83A8A-F5A2-CCE6-32B9-B804AAE10A11}"/>
              </a:ext>
            </a:extLst>
          </p:cNvPr>
          <p:cNvSpPr txBox="1"/>
          <p:nvPr/>
        </p:nvSpPr>
        <p:spPr>
          <a:xfrm rot="18925695">
            <a:off x="6653821" y="3422070"/>
            <a:ext cx="2447009" cy="400110"/>
          </a:xfrm>
          <a:prstGeom prst="rect">
            <a:avLst/>
          </a:prstGeom>
          <a:noFill/>
        </p:spPr>
        <p:txBody>
          <a:bodyPr wrap="square" lIns="91440" tIns="45720" rIns="91440" bIns="45720" rtlCol="0" anchor="t">
            <a:spAutoFit/>
          </a:bodyPr>
          <a:lstStyle/>
          <a:p>
            <a:r>
              <a:rPr lang="en-CA" sz="2000" b="1">
                <a:solidFill>
                  <a:srgbClr val="0070C0"/>
                </a:solidFill>
              </a:rPr>
              <a:t>Home Page 3</a:t>
            </a:r>
          </a:p>
        </p:txBody>
      </p:sp>
      <p:sp>
        <p:nvSpPr>
          <p:cNvPr id="16" name="TextBox 15">
            <a:extLst>
              <a:ext uri="{FF2B5EF4-FFF2-40B4-BE49-F238E27FC236}">
                <a16:creationId xmlns:a16="http://schemas.microsoft.com/office/drawing/2014/main" id="{6DD7D46D-0395-8E0A-1F3A-DDD9432055CC}"/>
              </a:ext>
            </a:extLst>
          </p:cNvPr>
          <p:cNvSpPr txBox="1"/>
          <p:nvPr/>
        </p:nvSpPr>
        <p:spPr>
          <a:xfrm rot="18925695">
            <a:off x="5959605" y="3352576"/>
            <a:ext cx="2447009" cy="400110"/>
          </a:xfrm>
          <a:prstGeom prst="rect">
            <a:avLst/>
          </a:prstGeom>
          <a:noFill/>
        </p:spPr>
        <p:txBody>
          <a:bodyPr wrap="square" lIns="91440" tIns="45720" rIns="91440" bIns="45720" rtlCol="0" anchor="t">
            <a:spAutoFit/>
          </a:bodyPr>
          <a:lstStyle/>
          <a:p>
            <a:r>
              <a:rPr lang="en-CA" sz="2000" b="1">
                <a:solidFill>
                  <a:srgbClr val="0070C0"/>
                </a:solidFill>
              </a:rPr>
              <a:t>Home Page 2</a:t>
            </a:r>
          </a:p>
        </p:txBody>
      </p:sp>
      <p:sp>
        <p:nvSpPr>
          <p:cNvPr id="17" name="TextBox 16">
            <a:extLst>
              <a:ext uri="{FF2B5EF4-FFF2-40B4-BE49-F238E27FC236}">
                <a16:creationId xmlns:a16="http://schemas.microsoft.com/office/drawing/2014/main" id="{7E898747-8F30-9D09-AA63-49278AF2E24C}"/>
              </a:ext>
            </a:extLst>
          </p:cNvPr>
          <p:cNvSpPr txBox="1"/>
          <p:nvPr/>
        </p:nvSpPr>
        <p:spPr>
          <a:xfrm rot="18925695">
            <a:off x="7299361" y="3409337"/>
            <a:ext cx="2447009" cy="400110"/>
          </a:xfrm>
          <a:prstGeom prst="rect">
            <a:avLst/>
          </a:prstGeom>
          <a:noFill/>
        </p:spPr>
        <p:txBody>
          <a:bodyPr wrap="square" lIns="91440" tIns="45720" rIns="91440" bIns="45720" rtlCol="0" anchor="t">
            <a:spAutoFit/>
          </a:bodyPr>
          <a:lstStyle/>
          <a:p>
            <a:r>
              <a:rPr lang="en-CA" sz="2000" b="1">
                <a:solidFill>
                  <a:srgbClr val="0070C0"/>
                </a:solidFill>
              </a:rPr>
              <a:t>YouTube link</a:t>
            </a:r>
          </a:p>
        </p:txBody>
      </p:sp>
      <p:sp>
        <p:nvSpPr>
          <p:cNvPr id="18" name="TextBox 17">
            <a:extLst>
              <a:ext uri="{FF2B5EF4-FFF2-40B4-BE49-F238E27FC236}">
                <a16:creationId xmlns:a16="http://schemas.microsoft.com/office/drawing/2014/main" id="{10CACD60-42BE-DF14-9EA3-1A6A8E6F74C4}"/>
              </a:ext>
            </a:extLst>
          </p:cNvPr>
          <p:cNvSpPr txBox="1"/>
          <p:nvPr/>
        </p:nvSpPr>
        <p:spPr>
          <a:xfrm>
            <a:off x="7979795" y="4957115"/>
            <a:ext cx="412200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a:t>Notably, 3 of the top links are variations of the home page.</a:t>
            </a:r>
          </a:p>
          <a:p>
            <a:pPr marL="285750" indent="-285750">
              <a:buFont typeface="Arial" panose="020B0604020202020204" pitchFamily="34" charset="0"/>
              <a:buChar char="•"/>
            </a:pPr>
            <a:r>
              <a:rPr lang="en-US"/>
              <a:t>Men’s has the 5</a:t>
            </a:r>
            <a:r>
              <a:rPr lang="en-US" baseline="30000"/>
              <a:t>th</a:t>
            </a:r>
            <a:r>
              <a:rPr lang="en-US"/>
              <a:t> highest page view, women’s is not in the top 10</a:t>
            </a:r>
          </a:p>
          <a:p>
            <a:pPr marL="285750" indent="-285750">
              <a:buFont typeface="Arial" panose="020B0604020202020204" pitchFamily="34" charset="0"/>
              <a:buChar char="•"/>
            </a:pPr>
            <a:r>
              <a:rPr lang="en-US"/>
              <a:t>Sign-in is </a:t>
            </a:r>
          </a:p>
        </p:txBody>
      </p:sp>
      <p:sp>
        <p:nvSpPr>
          <p:cNvPr id="19" name="Title 1">
            <a:extLst>
              <a:ext uri="{FF2B5EF4-FFF2-40B4-BE49-F238E27FC236}">
                <a16:creationId xmlns:a16="http://schemas.microsoft.com/office/drawing/2014/main" id="{1938A90A-7FDB-75D3-9DBD-04F5D9CFA173}"/>
              </a:ext>
            </a:extLst>
          </p:cNvPr>
          <p:cNvSpPr>
            <a:spLocks noGrp="1"/>
          </p:cNvSpPr>
          <p:nvPr>
            <p:ph type="title"/>
          </p:nvPr>
        </p:nvSpPr>
        <p:spPr>
          <a:xfrm>
            <a:off x="72628" y="133742"/>
            <a:ext cx="9906000" cy="1382156"/>
          </a:xfrm>
        </p:spPr>
        <p:txBody>
          <a:bodyPr/>
          <a:lstStyle/>
          <a:p>
            <a:r>
              <a:rPr lang="en-CA"/>
              <a:t>Cont’D</a:t>
            </a:r>
          </a:p>
        </p:txBody>
      </p:sp>
    </p:spTree>
    <p:extLst>
      <p:ext uri="{BB962C8B-B14F-4D97-AF65-F5344CB8AC3E}">
        <p14:creationId xmlns:p14="http://schemas.microsoft.com/office/powerpoint/2010/main" val="2513231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231BB-33DE-1689-DA69-FA297B98BA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87C7A-0F99-63FD-B9EC-12DB0FE41274}"/>
              </a:ext>
            </a:extLst>
          </p:cNvPr>
          <p:cNvSpPr>
            <a:spLocks noGrp="1"/>
          </p:cNvSpPr>
          <p:nvPr>
            <p:ph type="title"/>
          </p:nvPr>
        </p:nvSpPr>
        <p:spPr>
          <a:xfrm>
            <a:off x="9030730" y="-2059"/>
            <a:ext cx="4324865" cy="620155"/>
          </a:xfrm>
        </p:spPr>
        <p:txBody>
          <a:bodyPr>
            <a:normAutofit/>
          </a:bodyPr>
          <a:lstStyle/>
          <a:p>
            <a:r>
              <a:rPr lang="en-CA" sz="1400" b="1">
                <a:solidFill>
                  <a:srgbClr val="C00000"/>
                </a:solidFill>
              </a:rPr>
              <a:t>Python Metrics Calculations</a:t>
            </a:r>
          </a:p>
        </p:txBody>
      </p:sp>
      <p:sp>
        <p:nvSpPr>
          <p:cNvPr id="3" name="Content Placeholder 2">
            <a:extLst>
              <a:ext uri="{FF2B5EF4-FFF2-40B4-BE49-F238E27FC236}">
                <a16:creationId xmlns:a16="http://schemas.microsoft.com/office/drawing/2014/main" id="{13A1559A-74A4-76A1-97D5-0AC64BDF2EFE}"/>
              </a:ext>
            </a:extLst>
          </p:cNvPr>
          <p:cNvSpPr>
            <a:spLocks noGrp="1"/>
          </p:cNvSpPr>
          <p:nvPr>
            <p:ph idx="1"/>
          </p:nvPr>
        </p:nvSpPr>
        <p:spPr>
          <a:xfrm>
            <a:off x="895865" y="1412311"/>
            <a:ext cx="9906000" cy="4024424"/>
          </a:xfrm>
        </p:spPr>
        <p:txBody>
          <a:bodyPr vert="horz" lIns="91440" tIns="45720" rIns="91440" bIns="45720" rtlCol="0" anchor="t">
            <a:normAutofit/>
          </a:bodyPr>
          <a:lstStyle/>
          <a:p>
            <a:pPr marL="0" indent="0">
              <a:buNone/>
            </a:pPr>
            <a:endParaRPr lang="en-CA"/>
          </a:p>
          <a:p>
            <a:pPr lvl="1">
              <a:buFont typeface="Courier New" panose="020B0604020202020204" pitchFamily="34" charset="0"/>
              <a:buChar char="o"/>
            </a:pPr>
            <a:endParaRPr lang="en-CA"/>
          </a:p>
        </p:txBody>
      </p:sp>
      <p:sp>
        <p:nvSpPr>
          <p:cNvPr id="4" name="TextBox 3">
            <a:extLst>
              <a:ext uri="{FF2B5EF4-FFF2-40B4-BE49-F238E27FC236}">
                <a16:creationId xmlns:a16="http://schemas.microsoft.com/office/drawing/2014/main" id="{B3BB1221-1376-B93B-02F0-3453E3398851}"/>
              </a:ext>
            </a:extLst>
          </p:cNvPr>
          <p:cNvSpPr txBox="1"/>
          <p:nvPr/>
        </p:nvSpPr>
        <p:spPr>
          <a:xfrm>
            <a:off x="1147933" y="425407"/>
            <a:ext cx="597592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t>1. Number of Sessions</a:t>
            </a:r>
          </a:p>
        </p:txBody>
      </p:sp>
      <p:pic>
        <p:nvPicPr>
          <p:cNvPr id="7" name="Picture 6" descr="A screen shot of a computer program&#10;&#10;AI-generated content may be incorrect.">
            <a:extLst>
              <a:ext uri="{FF2B5EF4-FFF2-40B4-BE49-F238E27FC236}">
                <a16:creationId xmlns:a16="http://schemas.microsoft.com/office/drawing/2014/main" id="{F17F9E8E-6350-1116-51F6-9F5B8F00AAE9}"/>
              </a:ext>
            </a:extLst>
          </p:cNvPr>
          <p:cNvPicPr>
            <a:picLocks noChangeAspect="1"/>
          </p:cNvPicPr>
          <p:nvPr/>
        </p:nvPicPr>
        <p:blipFill>
          <a:blip r:embed="rId2"/>
          <a:srcRect l="2269" t="16009" r="36992" b="61949"/>
          <a:stretch>
            <a:fillRect/>
          </a:stretch>
        </p:blipFill>
        <p:spPr>
          <a:xfrm>
            <a:off x="1143137" y="1786324"/>
            <a:ext cx="5791154" cy="1390281"/>
          </a:xfrm>
          <a:prstGeom prst="rect">
            <a:avLst/>
          </a:prstGeom>
          <a:ln>
            <a:solidFill>
              <a:schemeClr val="tx1"/>
            </a:solidFill>
          </a:ln>
        </p:spPr>
      </p:pic>
      <p:sp>
        <p:nvSpPr>
          <p:cNvPr id="9" name="TextBox 8">
            <a:extLst>
              <a:ext uri="{FF2B5EF4-FFF2-40B4-BE49-F238E27FC236}">
                <a16:creationId xmlns:a16="http://schemas.microsoft.com/office/drawing/2014/main" id="{F3F4660B-B5A5-2D0D-BCB4-7CD550F04FD6}"/>
              </a:ext>
            </a:extLst>
          </p:cNvPr>
          <p:cNvSpPr txBox="1"/>
          <p:nvPr/>
        </p:nvSpPr>
        <p:spPr>
          <a:xfrm>
            <a:off x="1145931" y="1411871"/>
            <a:ext cx="2856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Python code:</a:t>
            </a:r>
          </a:p>
        </p:txBody>
      </p:sp>
      <p:sp>
        <p:nvSpPr>
          <p:cNvPr id="10" name="TextBox 9">
            <a:extLst>
              <a:ext uri="{FF2B5EF4-FFF2-40B4-BE49-F238E27FC236}">
                <a16:creationId xmlns:a16="http://schemas.microsoft.com/office/drawing/2014/main" id="{E4611C71-ED37-5F96-DD1F-8571E26E8AC7}"/>
              </a:ext>
            </a:extLst>
          </p:cNvPr>
          <p:cNvSpPr txBox="1"/>
          <p:nvPr/>
        </p:nvSpPr>
        <p:spPr>
          <a:xfrm>
            <a:off x="1382768" y="3826514"/>
            <a:ext cx="410303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This code counts the number of unique google analytics session IDs as a session could have multiple events. </a:t>
            </a:r>
          </a:p>
        </p:txBody>
      </p:sp>
      <p:sp>
        <p:nvSpPr>
          <p:cNvPr id="11" name="TextBox 10">
            <a:extLst>
              <a:ext uri="{FF2B5EF4-FFF2-40B4-BE49-F238E27FC236}">
                <a16:creationId xmlns:a16="http://schemas.microsoft.com/office/drawing/2014/main" id="{A2D5EC99-FA35-05EC-92F8-21C85DE66448}"/>
              </a:ext>
            </a:extLst>
          </p:cNvPr>
          <p:cNvSpPr txBox="1"/>
          <p:nvPr/>
        </p:nvSpPr>
        <p:spPr>
          <a:xfrm>
            <a:off x="7330237" y="4558480"/>
            <a:ext cx="38643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number of</a:t>
            </a:r>
            <a:r>
              <a:rPr lang="en-US" b="1"/>
              <a:t> sessions</a:t>
            </a:r>
            <a:r>
              <a:rPr lang="en-US"/>
              <a:t> is </a:t>
            </a:r>
            <a:r>
              <a:rPr lang="en-US" b="1"/>
              <a:t>31,046</a:t>
            </a:r>
            <a:r>
              <a:rPr lang="en-US"/>
              <a:t>. </a:t>
            </a:r>
          </a:p>
        </p:txBody>
      </p:sp>
    </p:spTree>
    <p:extLst>
      <p:ext uri="{BB962C8B-B14F-4D97-AF65-F5344CB8AC3E}">
        <p14:creationId xmlns:p14="http://schemas.microsoft.com/office/powerpoint/2010/main" val="4265367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37CC4-DD7C-72F8-0DBD-1DD350784D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A9326B-6133-B135-D9A9-B79E49CE79EF}"/>
              </a:ext>
            </a:extLst>
          </p:cNvPr>
          <p:cNvSpPr>
            <a:spLocks noGrp="1"/>
          </p:cNvSpPr>
          <p:nvPr>
            <p:ph type="title"/>
          </p:nvPr>
        </p:nvSpPr>
        <p:spPr>
          <a:xfrm>
            <a:off x="9030730" y="-2059"/>
            <a:ext cx="4324865" cy="620155"/>
          </a:xfrm>
        </p:spPr>
        <p:txBody>
          <a:bodyPr>
            <a:normAutofit/>
          </a:bodyPr>
          <a:lstStyle/>
          <a:p>
            <a:r>
              <a:rPr lang="en-CA" sz="1400" b="1">
                <a:solidFill>
                  <a:srgbClr val="C00000"/>
                </a:solidFill>
              </a:rPr>
              <a:t>Python Metrics Calculations</a:t>
            </a:r>
          </a:p>
        </p:txBody>
      </p:sp>
      <p:sp>
        <p:nvSpPr>
          <p:cNvPr id="3" name="Content Placeholder 2">
            <a:extLst>
              <a:ext uri="{FF2B5EF4-FFF2-40B4-BE49-F238E27FC236}">
                <a16:creationId xmlns:a16="http://schemas.microsoft.com/office/drawing/2014/main" id="{7EFCBBA8-1020-C29F-C8AB-3C23E8C9D417}"/>
              </a:ext>
            </a:extLst>
          </p:cNvPr>
          <p:cNvSpPr>
            <a:spLocks noGrp="1"/>
          </p:cNvSpPr>
          <p:nvPr>
            <p:ph idx="1"/>
          </p:nvPr>
        </p:nvSpPr>
        <p:spPr>
          <a:xfrm>
            <a:off x="895865" y="1412311"/>
            <a:ext cx="9906000" cy="4024424"/>
          </a:xfrm>
        </p:spPr>
        <p:txBody>
          <a:bodyPr vert="horz" lIns="91440" tIns="45720" rIns="91440" bIns="45720" rtlCol="0" anchor="t">
            <a:normAutofit/>
          </a:bodyPr>
          <a:lstStyle/>
          <a:p>
            <a:pPr marL="0" indent="0">
              <a:buNone/>
            </a:pPr>
            <a:endParaRPr lang="en-CA"/>
          </a:p>
          <a:p>
            <a:pPr lvl="1">
              <a:buFont typeface="Courier New" panose="020B0604020202020204" pitchFamily="34" charset="0"/>
              <a:buChar char="o"/>
            </a:pPr>
            <a:endParaRPr lang="en-CA"/>
          </a:p>
        </p:txBody>
      </p:sp>
      <p:sp>
        <p:nvSpPr>
          <p:cNvPr id="4" name="TextBox 3">
            <a:extLst>
              <a:ext uri="{FF2B5EF4-FFF2-40B4-BE49-F238E27FC236}">
                <a16:creationId xmlns:a16="http://schemas.microsoft.com/office/drawing/2014/main" id="{041477BC-7CCE-C2D6-3587-6104DFDC0978}"/>
              </a:ext>
            </a:extLst>
          </p:cNvPr>
          <p:cNvSpPr txBox="1"/>
          <p:nvPr/>
        </p:nvSpPr>
        <p:spPr>
          <a:xfrm>
            <a:off x="1147933" y="425407"/>
            <a:ext cx="597592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t>2. Number of Visitors </a:t>
            </a:r>
          </a:p>
        </p:txBody>
      </p:sp>
      <p:pic>
        <p:nvPicPr>
          <p:cNvPr id="7" name="Picture 6" descr="A screen shot of a computer program&#10;&#10;AI-generated content may be incorrect.">
            <a:extLst>
              <a:ext uri="{FF2B5EF4-FFF2-40B4-BE49-F238E27FC236}">
                <a16:creationId xmlns:a16="http://schemas.microsoft.com/office/drawing/2014/main" id="{5CC58FF5-0615-0D2F-3E0D-A88FE21EC708}"/>
              </a:ext>
            </a:extLst>
          </p:cNvPr>
          <p:cNvPicPr>
            <a:picLocks noChangeAspect="1"/>
          </p:cNvPicPr>
          <p:nvPr/>
        </p:nvPicPr>
        <p:blipFill>
          <a:blip r:embed="rId2"/>
          <a:srcRect l="2611" t="36195" r="36788" b="41763"/>
          <a:stretch>
            <a:fillRect/>
          </a:stretch>
        </p:blipFill>
        <p:spPr>
          <a:xfrm>
            <a:off x="1143137" y="1786324"/>
            <a:ext cx="5998000" cy="1410871"/>
          </a:xfrm>
          <a:prstGeom prst="rect">
            <a:avLst/>
          </a:prstGeom>
          <a:ln>
            <a:solidFill>
              <a:schemeClr val="tx1"/>
            </a:solidFill>
          </a:ln>
        </p:spPr>
      </p:pic>
      <p:sp>
        <p:nvSpPr>
          <p:cNvPr id="9" name="TextBox 8">
            <a:extLst>
              <a:ext uri="{FF2B5EF4-FFF2-40B4-BE49-F238E27FC236}">
                <a16:creationId xmlns:a16="http://schemas.microsoft.com/office/drawing/2014/main" id="{CC3649CB-E575-2C9C-0BD3-C0DCCA3B7649}"/>
              </a:ext>
            </a:extLst>
          </p:cNvPr>
          <p:cNvSpPr txBox="1"/>
          <p:nvPr/>
        </p:nvSpPr>
        <p:spPr>
          <a:xfrm>
            <a:off x="1145931" y="1411871"/>
            <a:ext cx="2856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Python code:</a:t>
            </a:r>
          </a:p>
        </p:txBody>
      </p:sp>
      <p:sp>
        <p:nvSpPr>
          <p:cNvPr id="10" name="TextBox 9">
            <a:extLst>
              <a:ext uri="{FF2B5EF4-FFF2-40B4-BE49-F238E27FC236}">
                <a16:creationId xmlns:a16="http://schemas.microsoft.com/office/drawing/2014/main" id="{8094D54E-284B-392C-8D4E-9C7433380DDF}"/>
              </a:ext>
            </a:extLst>
          </p:cNvPr>
          <p:cNvSpPr txBox="1"/>
          <p:nvPr/>
        </p:nvSpPr>
        <p:spPr>
          <a:xfrm>
            <a:off x="1145930" y="3723541"/>
            <a:ext cx="410303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This code counts the number of unique user IDs, as a single user could have multiple events. A unique user ID represents a visitor. </a:t>
            </a:r>
          </a:p>
        </p:txBody>
      </p:sp>
      <p:sp>
        <p:nvSpPr>
          <p:cNvPr id="11" name="TextBox 10">
            <a:extLst>
              <a:ext uri="{FF2B5EF4-FFF2-40B4-BE49-F238E27FC236}">
                <a16:creationId xmlns:a16="http://schemas.microsoft.com/office/drawing/2014/main" id="{B52299C6-ACE1-0126-C800-2926895D5F9A}"/>
              </a:ext>
            </a:extLst>
          </p:cNvPr>
          <p:cNvSpPr txBox="1"/>
          <p:nvPr/>
        </p:nvSpPr>
        <p:spPr>
          <a:xfrm>
            <a:off x="7257681" y="3961700"/>
            <a:ext cx="386434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The number of </a:t>
            </a:r>
            <a:r>
              <a:rPr lang="en-US" b="1" dirty="0"/>
              <a:t>visitors</a:t>
            </a:r>
            <a:r>
              <a:rPr lang="en-US" dirty="0"/>
              <a:t> is </a:t>
            </a:r>
            <a:r>
              <a:rPr lang="en-US" b="1" dirty="0"/>
              <a:t>25,199.</a:t>
            </a:r>
            <a:br>
              <a:rPr lang="en-US" b="1" dirty="0"/>
            </a:br>
            <a:r>
              <a:rPr lang="en-US" dirty="0"/>
              <a:t>Nearly </a:t>
            </a:r>
            <a:r>
              <a:rPr lang="en-US" b="1" dirty="0"/>
              <a:t>19%</a:t>
            </a:r>
            <a:r>
              <a:rPr lang="en-US" dirty="0"/>
              <a:t> of sessions were created by visitors who had previous sessions.</a:t>
            </a:r>
            <a:endParaRPr lang="en-US" b="1" dirty="0"/>
          </a:p>
        </p:txBody>
      </p:sp>
      <p:pic>
        <p:nvPicPr>
          <p:cNvPr id="6" name="Picture 5" descr="A blue and orange pie chart&#10;&#10;AI-generated content may be incorrect.">
            <a:extLst>
              <a:ext uri="{FF2B5EF4-FFF2-40B4-BE49-F238E27FC236}">
                <a16:creationId xmlns:a16="http://schemas.microsoft.com/office/drawing/2014/main" id="{7B0A002D-F49B-7EA9-280A-76EC54D320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7681" y="889562"/>
            <a:ext cx="4629150" cy="2705100"/>
          </a:xfrm>
          <a:prstGeom prst="rect">
            <a:avLst/>
          </a:prstGeom>
        </p:spPr>
      </p:pic>
    </p:spTree>
    <p:extLst>
      <p:ext uri="{BB962C8B-B14F-4D97-AF65-F5344CB8AC3E}">
        <p14:creationId xmlns:p14="http://schemas.microsoft.com/office/powerpoint/2010/main" val="1169326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2F1CE-D677-E5C9-AC2F-F4CF7A3BEE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B0C555-3954-8AD6-628D-73477BCDFB9F}"/>
              </a:ext>
            </a:extLst>
          </p:cNvPr>
          <p:cNvSpPr>
            <a:spLocks noGrp="1"/>
          </p:cNvSpPr>
          <p:nvPr>
            <p:ph type="title"/>
          </p:nvPr>
        </p:nvSpPr>
        <p:spPr>
          <a:xfrm>
            <a:off x="9030730" y="-2059"/>
            <a:ext cx="4324865" cy="620155"/>
          </a:xfrm>
        </p:spPr>
        <p:txBody>
          <a:bodyPr>
            <a:normAutofit/>
          </a:bodyPr>
          <a:lstStyle/>
          <a:p>
            <a:r>
              <a:rPr lang="en-CA" sz="1400" b="1">
                <a:solidFill>
                  <a:srgbClr val="C00000"/>
                </a:solidFill>
              </a:rPr>
              <a:t>Python Metrics Calculations</a:t>
            </a:r>
          </a:p>
        </p:txBody>
      </p:sp>
      <p:sp>
        <p:nvSpPr>
          <p:cNvPr id="3" name="Content Placeholder 2">
            <a:extLst>
              <a:ext uri="{FF2B5EF4-FFF2-40B4-BE49-F238E27FC236}">
                <a16:creationId xmlns:a16="http://schemas.microsoft.com/office/drawing/2014/main" id="{DBA28CE3-781D-6DD7-F077-F62DFB2FFF89}"/>
              </a:ext>
            </a:extLst>
          </p:cNvPr>
          <p:cNvSpPr>
            <a:spLocks noGrp="1"/>
          </p:cNvSpPr>
          <p:nvPr>
            <p:ph idx="1"/>
          </p:nvPr>
        </p:nvSpPr>
        <p:spPr>
          <a:xfrm>
            <a:off x="895865" y="1412311"/>
            <a:ext cx="9906000" cy="4024424"/>
          </a:xfrm>
        </p:spPr>
        <p:txBody>
          <a:bodyPr vert="horz" lIns="91440" tIns="45720" rIns="91440" bIns="45720" rtlCol="0" anchor="t">
            <a:normAutofit/>
          </a:bodyPr>
          <a:lstStyle/>
          <a:p>
            <a:pPr marL="0" indent="0">
              <a:buNone/>
            </a:pPr>
            <a:endParaRPr lang="en-CA"/>
          </a:p>
          <a:p>
            <a:pPr lvl="1">
              <a:buFont typeface="Courier New" panose="020B0604020202020204" pitchFamily="34" charset="0"/>
              <a:buChar char="o"/>
            </a:pPr>
            <a:endParaRPr lang="en-CA"/>
          </a:p>
        </p:txBody>
      </p:sp>
      <p:sp>
        <p:nvSpPr>
          <p:cNvPr id="4" name="TextBox 3">
            <a:extLst>
              <a:ext uri="{FF2B5EF4-FFF2-40B4-BE49-F238E27FC236}">
                <a16:creationId xmlns:a16="http://schemas.microsoft.com/office/drawing/2014/main" id="{7F065718-DC6B-9D92-2066-C75D91D53DD3}"/>
              </a:ext>
            </a:extLst>
          </p:cNvPr>
          <p:cNvSpPr txBox="1"/>
          <p:nvPr/>
        </p:nvSpPr>
        <p:spPr>
          <a:xfrm>
            <a:off x="1147933" y="425407"/>
            <a:ext cx="597592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t>3. Average Session Duration</a:t>
            </a:r>
          </a:p>
        </p:txBody>
      </p:sp>
      <p:pic>
        <p:nvPicPr>
          <p:cNvPr id="7" name="Picture 6" descr="A screenshot of a computer program&#10;&#10;AI-generated content may be incorrect.">
            <a:extLst>
              <a:ext uri="{FF2B5EF4-FFF2-40B4-BE49-F238E27FC236}">
                <a16:creationId xmlns:a16="http://schemas.microsoft.com/office/drawing/2014/main" id="{9F31BB90-006A-E49A-83FD-BA19273346CE}"/>
              </a:ext>
            </a:extLst>
          </p:cNvPr>
          <p:cNvPicPr>
            <a:picLocks noChangeAspect="1"/>
          </p:cNvPicPr>
          <p:nvPr/>
        </p:nvPicPr>
        <p:blipFill>
          <a:blip r:embed="rId2"/>
          <a:srcRect l="4941" t="3954" r="11192" b="71283"/>
          <a:stretch>
            <a:fillRect/>
          </a:stretch>
        </p:blipFill>
        <p:spPr>
          <a:xfrm>
            <a:off x="1255971" y="1712548"/>
            <a:ext cx="6894192" cy="1550841"/>
          </a:xfrm>
          <a:prstGeom prst="rect">
            <a:avLst/>
          </a:prstGeom>
          <a:ln>
            <a:solidFill>
              <a:schemeClr val="tx1"/>
            </a:solidFill>
          </a:ln>
        </p:spPr>
      </p:pic>
      <p:sp>
        <p:nvSpPr>
          <p:cNvPr id="9" name="TextBox 8">
            <a:extLst>
              <a:ext uri="{FF2B5EF4-FFF2-40B4-BE49-F238E27FC236}">
                <a16:creationId xmlns:a16="http://schemas.microsoft.com/office/drawing/2014/main" id="{7909616D-BFC0-54F4-3C83-986722EC3F01}"/>
              </a:ext>
            </a:extLst>
          </p:cNvPr>
          <p:cNvSpPr txBox="1"/>
          <p:nvPr/>
        </p:nvSpPr>
        <p:spPr>
          <a:xfrm>
            <a:off x="1145931" y="1411871"/>
            <a:ext cx="2856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Python code:</a:t>
            </a:r>
          </a:p>
        </p:txBody>
      </p:sp>
      <p:sp>
        <p:nvSpPr>
          <p:cNvPr id="11" name="TextBox 10">
            <a:extLst>
              <a:ext uri="{FF2B5EF4-FFF2-40B4-BE49-F238E27FC236}">
                <a16:creationId xmlns:a16="http://schemas.microsoft.com/office/drawing/2014/main" id="{C94DB9A6-C592-5D3C-4239-65D981B5EB2E}"/>
              </a:ext>
            </a:extLst>
          </p:cNvPr>
          <p:cNvSpPr txBox="1"/>
          <p:nvPr/>
        </p:nvSpPr>
        <p:spPr>
          <a:xfrm>
            <a:off x="1254831" y="3600831"/>
            <a:ext cx="576934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We initiated by identifying individual sessions through grouping them by the </a:t>
            </a:r>
            <a:r>
              <a:rPr lang="en-US" dirty="0" err="1"/>
              <a:t>ga_session_id</a:t>
            </a:r>
            <a:r>
              <a:rPr lang="en-US" dirty="0"/>
              <a:t>.</a:t>
            </a:r>
          </a:p>
          <a:p>
            <a:endParaRPr lang="en-US" dirty="0"/>
          </a:p>
          <a:p>
            <a:r>
              <a:rPr lang="en-US" dirty="0"/>
              <a:t>Then, we have to grab the start and finish time by identifying the maximum and minimum timestamp from each unique session.</a:t>
            </a:r>
          </a:p>
          <a:p>
            <a:endParaRPr lang="en-US" dirty="0"/>
          </a:p>
          <a:p>
            <a:r>
              <a:rPr lang="en-US" dirty="0"/>
              <a:t>Next, we can calculate the duration by subtracting the minimum time stamp from the maximum. </a:t>
            </a:r>
          </a:p>
          <a:p>
            <a:endParaRPr lang="en-US" dirty="0"/>
          </a:p>
          <a:p>
            <a:r>
              <a:rPr lang="en-US" dirty="0"/>
              <a:t>Finally, we take the average duration of all the calculated durations </a:t>
            </a:r>
          </a:p>
        </p:txBody>
      </p:sp>
      <p:sp>
        <p:nvSpPr>
          <p:cNvPr id="5" name="TextBox 4">
            <a:extLst>
              <a:ext uri="{FF2B5EF4-FFF2-40B4-BE49-F238E27FC236}">
                <a16:creationId xmlns:a16="http://schemas.microsoft.com/office/drawing/2014/main" id="{BDDD9635-E7B2-396A-3695-5A0803171AFB}"/>
              </a:ext>
            </a:extLst>
          </p:cNvPr>
          <p:cNvSpPr txBox="1"/>
          <p:nvPr/>
        </p:nvSpPr>
        <p:spPr>
          <a:xfrm>
            <a:off x="7550459" y="4277258"/>
            <a:ext cx="41703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a:t>
            </a:r>
            <a:r>
              <a:rPr lang="en-US" b="1"/>
              <a:t>average</a:t>
            </a:r>
            <a:r>
              <a:rPr lang="en-US"/>
              <a:t> session </a:t>
            </a:r>
            <a:r>
              <a:rPr lang="en-US" b="1"/>
              <a:t>duration </a:t>
            </a:r>
            <a:r>
              <a:rPr lang="en-US"/>
              <a:t>1013.40 seconds</a:t>
            </a:r>
          </a:p>
        </p:txBody>
      </p:sp>
    </p:spTree>
    <p:extLst>
      <p:ext uri="{BB962C8B-B14F-4D97-AF65-F5344CB8AC3E}">
        <p14:creationId xmlns:p14="http://schemas.microsoft.com/office/powerpoint/2010/main" val="423024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FB4E5-0201-7FB7-5427-1BC4ABFCE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9863D5-6203-95AF-AD92-D0369EFF57BB}"/>
              </a:ext>
            </a:extLst>
          </p:cNvPr>
          <p:cNvSpPr>
            <a:spLocks noGrp="1"/>
          </p:cNvSpPr>
          <p:nvPr>
            <p:ph type="title"/>
          </p:nvPr>
        </p:nvSpPr>
        <p:spPr>
          <a:xfrm>
            <a:off x="9030730" y="-2059"/>
            <a:ext cx="4324865" cy="620155"/>
          </a:xfrm>
        </p:spPr>
        <p:txBody>
          <a:bodyPr>
            <a:normAutofit/>
          </a:bodyPr>
          <a:lstStyle/>
          <a:p>
            <a:r>
              <a:rPr lang="en-CA" sz="1400" b="1">
                <a:solidFill>
                  <a:srgbClr val="C00000"/>
                </a:solidFill>
              </a:rPr>
              <a:t>Python Metrics Calculations</a:t>
            </a:r>
          </a:p>
        </p:txBody>
      </p:sp>
      <p:sp>
        <p:nvSpPr>
          <p:cNvPr id="3" name="Content Placeholder 2">
            <a:extLst>
              <a:ext uri="{FF2B5EF4-FFF2-40B4-BE49-F238E27FC236}">
                <a16:creationId xmlns:a16="http://schemas.microsoft.com/office/drawing/2014/main" id="{E3E7F04C-140B-6B73-C4B5-25F4DF186609}"/>
              </a:ext>
            </a:extLst>
          </p:cNvPr>
          <p:cNvSpPr>
            <a:spLocks noGrp="1"/>
          </p:cNvSpPr>
          <p:nvPr>
            <p:ph idx="1"/>
          </p:nvPr>
        </p:nvSpPr>
        <p:spPr>
          <a:xfrm>
            <a:off x="895865" y="1412311"/>
            <a:ext cx="9906000" cy="4024424"/>
          </a:xfrm>
        </p:spPr>
        <p:txBody>
          <a:bodyPr vert="horz" lIns="91440" tIns="45720" rIns="91440" bIns="45720" rtlCol="0" anchor="t">
            <a:normAutofit/>
          </a:bodyPr>
          <a:lstStyle/>
          <a:p>
            <a:pPr marL="0" indent="0">
              <a:buNone/>
            </a:pPr>
            <a:endParaRPr lang="en-CA"/>
          </a:p>
          <a:p>
            <a:pPr lvl="1">
              <a:buFont typeface="Courier New" panose="020B0604020202020204" pitchFamily="34" charset="0"/>
              <a:buChar char="o"/>
            </a:pPr>
            <a:endParaRPr lang="en-CA"/>
          </a:p>
        </p:txBody>
      </p:sp>
      <p:sp>
        <p:nvSpPr>
          <p:cNvPr id="4" name="TextBox 3">
            <a:extLst>
              <a:ext uri="{FF2B5EF4-FFF2-40B4-BE49-F238E27FC236}">
                <a16:creationId xmlns:a16="http://schemas.microsoft.com/office/drawing/2014/main" id="{A0E1EECF-9F20-2FE0-E7FC-153216779927}"/>
              </a:ext>
            </a:extLst>
          </p:cNvPr>
          <p:cNvSpPr txBox="1"/>
          <p:nvPr/>
        </p:nvSpPr>
        <p:spPr>
          <a:xfrm>
            <a:off x="1147933" y="425407"/>
            <a:ext cx="597592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t>4. Engagement Rate </a:t>
            </a:r>
          </a:p>
        </p:txBody>
      </p:sp>
      <p:pic>
        <p:nvPicPr>
          <p:cNvPr id="7" name="Picture 6" descr="A screenshot of a computer program&#10;&#10;AI-generated content may be incorrect.">
            <a:extLst>
              <a:ext uri="{FF2B5EF4-FFF2-40B4-BE49-F238E27FC236}">
                <a16:creationId xmlns:a16="http://schemas.microsoft.com/office/drawing/2014/main" id="{33A7074F-C457-0750-1DD3-555D18F7A02A}"/>
              </a:ext>
            </a:extLst>
          </p:cNvPr>
          <p:cNvPicPr>
            <a:picLocks noChangeAspect="1"/>
          </p:cNvPicPr>
          <p:nvPr/>
        </p:nvPicPr>
        <p:blipFill>
          <a:blip r:embed="rId2"/>
          <a:srcRect l="3738" t="27931" r="12298" b="51627"/>
          <a:stretch>
            <a:fillRect/>
          </a:stretch>
        </p:blipFill>
        <p:spPr>
          <a:xfrm>
            <a:off x="1152596" y="1719026"/>
            <a:ext cx="7395119" cy="1322048"/>
          </a:xfrm>
          <a:prstGeom prst="rect">
            <a:avLst/>
          </a:prstGeom>
          <a:ln>
            <a:solidFill>
              <a:schemeClr val="tx1"/>
            </a:solidFill>
          </a:ln>
        </p:spPr>
      </p:pic>
      <p:sp>
        <p:nvSpPr>
          <p:cNvPr id="9" name="TextBox 8">
            <a:extLst>
              <a:ext uri="{FF2B5EF4-FFF2-40B4-BE49-F238E27FC236}">
                <a16:creationId xmlns:a16="http://schemas.microsoft.com/office/drawing/2014/main" id="{EDC60A71-1C46-8DD9-2BAE-1E3AD5013CB1}"/>
              </a:ext>
            </a:extLst>
          </p:cNvPr>
          <p:cNvSpPr txBox="1"/>
          <p:nvPr/>
        </p:nvSpPr>
        <p:spPr>
          <a:xfrm>
            <a:off x="1145931" y="1411871"/>
            <a:ext cx="2856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Python code:</a:t>
            </a:r>
          </a:p>
        </p:txBody>
      </p:sp>
      <p:sp>
        <p:nvSpPr>
          <p:cNvPr id="11" name="TextBox 10">
            <a:extLst>
              <a:ext uri="{FF2B5EF4-FFF2-40B4-BE49-F238E27FC236}">
                <a16:creationId xmlns:a16="http://schemas.microsoft.com/office/drawing/2014/main" id="{0FD09CA5-5861-1020-2193-46C20D6D5BAB}"/>
              </a:ext>
            </a:extLst>
          </p:cNvPr>
          <p:cNvSpPr txBox="1"/>
          <p:nvPr/>
        </p:nvSpPr>
        <p:spPr>
          <a:xfrm>
            <a:off x="1151858" y="3261020"/>
            <a:ext cx="5975286"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First, we create a data frame only containing page views. </a:t>
            </a:r>
          </a:p>
          <a:p>
            <a:endParaRPr lang="en-US"/>
          </a:p>
          <a:p>
            <a:r>
              <a:rPr lang="en-US"/>
              <a:t>Secondly, we count the page views when grouped by ga_session_id.</a:t>
            </a:r>
          </a:p>
          <a:p>
            <a:endParaRPr lang="en-US"/>
          </a:p>
          <a:p>
            <a:r>
              <a:rPr lang="en-US"/>
              <a:t>Next, we count the number of sessions that have more than one page viewed. </a:t>
            </a:r>
          </a:p>
          <a:p>
            <a:endParaRPr lang="en-US"/>
          </a:p>
          <a:p>
            <a:r>
              <a:rPr lang="en-US"/>
              <a:t>Finally, we calculate the engagement rate by dividing the number of sessions &gt;1 page view by the total number of sessions</a:t>
            </a:r>
          </a:p>
        </p:txBody>
      </p:sp>
      <p:sp>
        <p:nvSpPr>
          <p:cNvPr id="5" name="TextBox 4">
            <a:extLst>
              <a:ext uri="{FF2B5EF4-FFF2-40B4-BE49-F238E27FC236}">
                <a16:creationId xmlns:a16="http://schemas.microsoft.com/office/drawing/2014/main" id="{B8EA5928-5C94-3F66-2078-92E6EA35EED0}"/>
              </a:ext>
            </a:extLst>
          </p:cNvPr>
          <p:cNvSpPr txBox="1"/>
          <p:nvPr/>
        </p:nvSpPr>
        <p:spPr>
          <a:xfrm>
            <a:off x="7694731" y="4485284"/>
            <a:ext cx="41703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a:t>
            </a:r>
            <a:r>
              <a:rPr lang="en-US" b="1"/>
              <a:t>engagement rate</a:t>
            </a:r>
            <a:r>
              <a:rPr lang="en-US"/>
              <a:t> is 0.437 which is </a:t>
            </a:r>
            <a:r>
              <a:rPr lang="en-US" b="1"/>
              <a:t>43.7%</a:t>
            </a:r>
            <a:r>
              <a:rPr lang="en-US"/>
              <a:t>. </a:t>
            </a:r>
          </a:p>
        </p:txBody>
      </p:sp>
    </p:spTree>
    <p:extLst>
      <p:ext uri="{BB962C8B-B14F-4D97-AF65-F5344CB8AC3E}">
        <p14:creationId xmlns:p14="http://schemas.microsoft.com/office/powerpoint/2010/main" val="2722354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E4F59-BCDE-1E8B-8BB7-D7E7751F29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FC8E8-6B10-1CB6-5C48-FC8AC24BF873}"/>
              </a:ext>
            </a:extLst>
          </p:cNvPr>
          <p:cNvSpPr>
            <a:spLocks noGrp="1"/>
          </p:cNvSpPr>
          <p:nvPr>
            <p:ph type="title"/>
          </p:nvPr>
        </p:nvSpPr>
        <p:spPr>
          <a:xfrm>
            <a:off x="9030730" y="-2059"/>
            <a:ext cx="4324865" cy="620155"/>
          </a:xfrm>
        </p:spPr>
        <p:txBody>
          <a:bodyPr>
            <a:normAutofit/>
          </a:bodyPr>
          <a:lstStyle/>
          <a:p>
            <a:r>
              <a:rPr lang="en-CA" sz="1400" b="1">
                <a:solidFill>
                  <a:srgbClr val="C00000"/>
                </a:solidFill>
              </a:rPr>
              <a:t>Python Metrics Calculations</a:t>
            </a:r>
          </a:p>
        </p:txBody>
      </p:sp>
      <p:sp>
        <p:nvSpPr>
          <p:cNvPr id="3" name="Content Placeholder 2">
            <a:extLst>
              <a:ext uri="{FF2B5EF4-FFF2-40B4-BE49-F238E27FC236}">
                <a16:creationId xmlns:a16="http://schemas.microsoft.com/office/drawing/2014/main" id="{A0320EDB-97FC-3672-5B46-AA7C1FCCDC3C}"/>
              </a:ext>
            </a:extLst>
          </p:cNvPr>
          <p:cNvSpPr>
            <a:spLocks noGrp="1"/>
          </p:cNvSpPr>
          <p:nvPr>
            <p:ph idx="1"/>
          </p:nvPr>
        </p:nvSpPr>
        <p:spPr>
          <a:xfrm>
            <a:off x="895865" y="1412311"/>
            <a:ext cx="9906000" cy="4024424"/>
          </a:xfrm>
        </p:spPr>
        <p:txBody>
          <a:bodyPr vert="horz" lIns="91440" tIns="45720" rIns="91440" bIns="45720" rtlCol="0" anchor="t">
            <a:normAutofit/>
          </a:bodyPr>
          <a:lstStyle/>
          <a:p>
            <a:pPr marL="0" indent="0">
              <a:buNone/>
            </a:pPr>
            <a:endParaRPr lang="en-CA"/>
          </a:p>
          <a:p>
            <a:pPr lvl="1">
              <a:buFont typeface="Courier New" panose="020B0604020202020204" pitchFamily="34" charset="0"/>
              <a:buChar char="o"/>
            </a:pPr>
            <a:endParaRPr lang="en-CA"/>
          </a:p>
        </p:txBody>
      </p:sp>
      <p:sp>
        <p:nvSpPr>
          <p:cNvPr id="4" name="TextBox 3">
            <a:extLst>
              <a:ext uri="{FF2B5EF4-FFF2-40B4-BE49-F238E27FC236}">
                <a16:creationId xmlns:a16="http://schemas.microsoft.com/office/drawing/2014/main" id="{56097B87-A461-4C37-5810-580194D9CEED}"/>
              </a:ext>
            </a:extLst>
          </p:cNvPr>
          <p:cNvSpPr txBox="1"/>
          <p:nvPr/>
        </p:nvSpPr>
        <p:spPr>
          <a:xfrm>
            <a:off x="1147933" y="425407"/>
            <a:ext cx="597592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t>5. Conversation Rate</a:t>
            </a:r>
          </a:p>
        </p:txBody>
      </p:sp>
      <p:sp>
        <p:nvSpPr>
          <p:cNvPr id="9" name="TextBox 8">
            <a:extLst>
              <a:ext uri="{FF2B5EF4-FFF2-40B4-BE49-F238E27FC236}">
                <a16:creationId xmlns:a16="http://schemas.microsoft.com/office/drawing/2014/main" id="{351F6C4B-1A4D-23E9-5286-EA27B45CF4ED}"/>
              </a:ext>
            </a:extLst>
          </p:cNvPr>
          <p:cNvSpPr txBox="1"/>
          <p:nvPr/>
        </p:nvSpPr>
        <p:spPr>
          <a:xfrm>
            <a:off x="1145931" y="1411871"/>
            <a:ext cx="2856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Python code:</a:t>
            </a:r>
          </a:p>
        </p:txBody>
      </p:sp>
      <p:pic>
        <p:nvPicPr>
          <p:cNvPr id="6" name="Picture 5" descr="A screen shot of a computer code&#10;&#10;AI-generated content may be incorrect.">
            <a:extLst>
              <a:ext uri="{FF2B5EF4-FFF2-40B4-BE49-F238E27FC236}">
                <a16:creationId xmlns:a16="http://schemas.microsoft.com/office/drawing/2014/main" id="{30F72C5F-2FBB-F196-8A5E-6FEFD820BDD1}"/>
              </a:ext>
            </a:extLst>
          </p:cNvPr>
          <p:cNvPicPr>
            <a:picLocks noChangeAspect="1"/>
          </p:cNvPicPr>
          <p:nvPr/>
        </p:nvPicPr>
        <p:blipFill>
          <a:blip r:embed="rId2"/>
          <a:stretch>
            <a:fillRect/>
          </a:stretch>
        </p:blipFill>
        <p:spPr>
          <a:xfrm>
            <a:off x="1149804" y="1778509"/>
            <a:ext cx="7980590" cy="1314339"/>
          </a:xfrm>
          <a:prstGeom prst="rect">
            <a:avLst/>
          </a:prstGeom>
        </p:spPr>
      </p:pic>
      <p:sp>
        <p:nvSpPr>
          <p:cNvPr id="10" name="TextBox 9">
            <a:extLst>
              <a:ext uri="{FF2B5EF4-FFF2-40B4-BE49-F238E27FC236}">
                <a16:creationId xmlns:a16="http://schemas.microsoft.com/office/drawing/2014/main" id="{6131425C-8B4F-113E-ED71-F16A8BE0F507}"/>
              </a:ext>
            </a:extLst>
          </p:cNvPr>
          <p:cNvSpPr txBox="1"/>
          <p:nvPr/>
        </p:nvSpPr>
        <p:spPr>
          <a:xfrm>
            <a:off x="1160015" y="3539231"/>
            <a:ext cx="8084598"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The code filters the dataset to where </a:t>
            </a:r>
            <a:r>
              <a:rPr lang="en-US" err="1">
                <a:ea typeface="+mn-lt"/>
                <a:cs typeface="+mn-lt"/>
              </a:rPr>
              <a:t>event_name</a:t>
            </a:r>
            <a:r>
              <a:rPr lang="en-US">
                <a:ea typeface="+mn-lt"/>
                <a:cs typeface="+mn-lt"/>
              </a:rPr>
              <a:t> equates to a purchase.</a:t>
            </a:r>
            <a:br>
              <a:rPr lang="en-US">
                <a:ea typeface="+mn-lt"/>
                <a:cs typeface="+mn-lt"/>
              </a:rPr>
            </a:br>
            <a:r>
              <a:rPr lang="en-US">
                <a:ea typeface="+mn-lt"/>
                <a:cs typeface="+mn-lt"/>
              </a:rPr>
              <a:t> </a:t>
            </a:r>
          </a:p>
          <a:p>
            <a:r>
              <a:rPr lang="en-US">
                <a:ea typeface="+mn-lt"/>
                <a:cs typeface="+mn-lt"/>
              </a:rPr>
              <a:t>Then uses the .</a:t>
            </a:r>
            <a:r>
              <a:rPr lang="en-US" err="1">
                <a:ea typeface="+mn-lt"/>
                <a:cs typeface="+mn-lt"/>
              </a:rPr>
              <a:t>nunique</a:t>
            </a:r>
            <a:r>
              <a:rPr lang="en-US">
                <a:ea typeface="+mn-lt"/>
                <a:cs typeface="+mn-lt"/>
              </a:rPr>
              <a:t>() function on ga_session_id to count the unique number of sessions that include at least one purchase. </a:t>
            </a:r>
          </a:p>
          <a:p>
            <a:endParaRPr lang="en-US">
              <a:ea typeface="+mn-lt"/>
              <a:cs typeface="+mn-lt"/>
            </a:endParaRPr>
          </a:p>
          <a:p>
            <a:r>
              <a:rPr lang="en-US">
                <a:ea typeface="+mn-lt"/>
                <a:cs typeface="+mn-lt"/>
              </a:rPr>
              <a:t>Then dividing the total number of sessions resulting in the conversion rate. </a:t>
            </a:r>
            <a:endParaRPr lang="en-US"/>
          </a:p>
          <a:p>
            <a:endParaRPr lang="en-US"/>
          </a:p>
        </p:txBody>
      </p:sp>
      <p:sp>
        <p:nvSpPr>
          <p:cNvPr id="7" name="TextBox 6">
            <a:extLst>
              <a:ext uri="{FF2B5EF4-FFF2-40B4-BE49-F238E27FC236}">
                <a16:creationId xmlns:a16="http://schemas.microsoft.com/office/drawing/2014/main" id="{B11A6368-23FA-8080-8ECE-C16DB1608FA1}"/>
              </a:ext>
            </a:extLst>
          </p:cNvPr>
          <p:cNvSpPr txBox="1"/>
          <p:nvPr/>
        </p:nvSpPr>
        <p:spPr>
          <a:xfrm>
            <a:off x="5482860" y="6234716"/>
            <a:ext cx="35513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conversion rate is : </a:t>
            </a:r>
            <a:r>
              <a:rPr lang="en-US">
                <a:ea typeface="+mn-lt"/>
                <a:cs typeface="+mn-lt"/>
              </a:rPr>
              <a:t>0.018 or 1.8%</a:t>
            </a:r>
          </a:p>
        </p:txBody>
      </p:sp>
      <p:pic>
        <p:nvPicPr>
          <p:cNvPr id="1026" name="Picture 2">
            <a:extLst>
              <a:ext uri="{FF2B5EF4-FFF2-40B4-BE49-F238E27FC236}">
                <a16:creationId xmlns:a16="http://schemas.microsoft.com/office/drawing/2014/main" id="{BFABAEE5-25B3-92F7-D80E-3067D092AA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3530" y="3919460"/>
            <a:ext cx="3152909" cy="2456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1153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BA1A-B3EA-6267-F307-ECAAB33C49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49385C-C25E-4C5B-C1CB-E106F0729EDE}"/>
              </a:ext>
            </a:extLst>
          </p:cNvPr>
          <p:cNvSpPr>
            <a:spLocks noGrp="1"/>
          </p:cNvSpPr>
          <p:nvPr>
            <p:ph type="title"/>
          </p:nvPr>
        </p:nvSpPr>
        <p:spPr>
          <a:xfrm>
            <a:off x="9030730" y="-2059"/>
            <a:ext cx="4324865" cy="620155"/>
          </a:xfrm>
        </p:spPr>
        <p:txBody>
          <a:bodyPr>
            <a:normAutofit/>
          </a:bodyPr>
          <a:lstStyle/>
          <a:p>
            <a:r>
              <a:rPr lang="en-CA" sz="1400" b="1">
                <a:solidFill>
                  <a:srgbClr val="C00000"/>
                </a:solidFill>
              </a:rPr>
              <a:t>Python Metrics Calculations</a:t>
            </a:r>
          </a:p>
        </p:txBody>
      </p:sp>
      <p:sp>
        <p:nvSpPr>
          <p:cNvPr id="3" name="Content Placeholder 2">
            <a:extLst>
              <a:ext uri="{FF2B5EF4-FFF2-40B4-BE49-F238E27FC236}">
                <a16:creationId xmlns:a16="http://schemas.microsoft.com/office/drawing/2014/main" id="{188FEC76-C033-B12D-A980-53023EBADF8A}"/>
              </a:ext>
            </a:extLst>
          </p:cNvPr>
          <p:cNvSpPr>
            <a:spLocks noGrp="1"/>
          </p:cNvSpPr>
          <p:nvPr>
            <p:ph idx="1"/>
          </p:nvPr>
        </p:nvSpPr>
        <p:spPr>
          <a:xfrm>
            <a:off x="895865" y="1412311"/>
            <a:ext cx="9906000" cy="4024424"/>
          </a:xfrm>
        </p:spPr>
        <p:txBody>
          <a:bodyPr vert="horz" lIns="91440" tIns="45720" rIns="91440" bIns="45720" rtlCol="0" anchor="t">
            <a:normAutofit/>
          </a:bodyPr>
          <a:lstStyle/>
          <a:p>
            <a:pPr marL="0" indent="0">
              <a:buNone/>
            </a:pPr>
            <a:endParaRPr lang="en-CA"/>
          </a:p>
          <a:p>
            <a:pPr lvl="1">
              <a:buFont typeface="Courier New" panose="020B0604020202020204" pitchFamily="34" charset="0"/>
              <a:buChar char="o"/>
            </a:pPr>
            <a:endParaRPr lang="en-CA"/>
          </a:p>
        </p:txBody>
      </p:sp>
      <p:sp>
        <p:nvSpPr>
          <p:cNvPr id="4" name="TextBox 3">
            <a:extLst>
              <a:ext uri="{FF2B5EF4-FFF2-40B4-BE49-F238E27FC236}">
                <a16:creationId xmlns:a16="http://schemas.microsoft.com/office/drawing/2014/main" id="{BED78265-6690-C4D6-5963-1091BEE389E4}"/>
              </a:ext>
            </a:extLst>
          </p:cNvPr>
          <p:cNvSpPr txBox="1"/>
          <p:nvPr/>
        </p:nvSpPr>
        <p:spPr>
          <a:xfrm>
            <a:off x="1147933" y="425407"/>
            <a:ext cx="597592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t>6. Exit Rate: Top 5 Pages </a:t>
            </a:r>
            <a:r>
              <a:rPr lang="en-US" sz="2400" b="1"/>
              <a:t>Cont’d</a:t>
            </a:r>
            <a:r>
              <a:rPr lang="en-US" sz="4000" b="1"/>
              <a:t> </a:t>
            </a:r>
          </a:p>
        </p:txBody>
      </p:sp>
      <p:sp>
        <p:nvSpPr>
          <p:cNvPr id="9" name="TextBox 8">
            <a:extLst>
              <a:ext uri="{FF2B5EF4-FFF2-40B4-BE49-F238E27FC236}">
                <a16:creationId xmlns:a16="http://schemas.microsoft.com/office/drawing/2014/main" id="{88B5DECB-40CC-5AC8-A8CE-43A0063C3ED0}"/>
              </a:ext>
            </a:extLst>
          </p:cNvPr>
          <p:cNvSpPr txBox="1"/>
          <p:nvPr/>
        </p:nvSpPr>
        <p:spPr>
          <a:xfrm>
            <a:off x="1166526" y="1133844"/>
            <a:ext cx="2856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Python code:</a:t>
            </a:r>
          </a:p>
        </p:txBody>
      </p:sp>
      <p:sp>
        <p:nvSpPr>
          <p:cNvPr id="5" name="TextBox 4">
            <a:extLst>
              <a:ext uri="{FF2B5EF4-FFF2-40B4-BE49-F238E27FC236}">
                <a16:creationId xmlns:a16="http://schemas.microsoft.com/office/drawing/2014/main" id="{633C45A4-2AD9-A7CA-E9CD-24CAEFEF90C7}"/>
              </a:ext>
            </a:extLst>
          </p:cNvPr>
          <p:cNvSpPr txBox="1"/>
          <p:nvPr/>
        </p:nvSpPr>
        <p:spPr>
          <a:xfrm>
            <a:off x="6700882" y="1518696"/>
            <a:ext cx="5489959"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latin typeface="Consolas"/>
              </a:rPr>
              <a:t>Top 5 Exit Rate pages with counts:</a:t>
            </a:r>
          </a:p>
          <a:p>
            <a:r>
              <a:rPr lang="en-US" sz="1000" b="1">
                <a:solidFill>
                  <a:schemeClr val="accent1">
                    <a:lumMod val="60000"/>
                    <a:lumOff val="40000"/>
                  </a:schemeClr>
                </a:solidFill>
                <a:latin typeface="Consolas"/>
              </a:rPr>
              <a:t>exits_total</a:t>
            </a:r>
            <a:r>
              <a:rPr lang="en-US" sz="1000">
                <a:solidFill>
                  <a:schemeClr val="accent1">
                    <a:lumMod val="60000"/>
                    <a:lumOff val="40000"/>
                  </a:schemeClr>
                </a:solidFill>
                <a:latin typeface="Consolas"/>
              </a:rPr>
              <a:t>                 </a:t>
            </a:r>
            <a:r>
              <a:rPr lang="en-US" sz="1000">
                <a:solidFill>
                  <a:srgbClr val="0D47A1"/>
                </a:solidFill>
                <a:latin typeface="Consolas"/>
              </a:rPr>
              <a:t>page </a:t>
            </a:r>
            <a:r>
              <a:rPr lang="en-US" sz="1000">
                <a:latin typeface="Consolas"/>
              </a:rPr>
              <a:t>		      </a:t>
            </a:r>
            <a:r>
              <a:rPr lang="en-US" sz="1000" b="1">
                <a:solidFill>
                  <a:srgbClr val="00B050"/>
                </a:solidFill>
                <a:latin typeface="Consolas"/>
              </a:rPr>
              <a:t>exit_rate  </a:t>
            </a:r>
            <a:r>
              <a:rPr lang="en-US" sz="1000">
                <a:latin typeface="Consolas"/>
              </a:rPr>
              <a:t>
    </a:t>
            </a:r>
            <a:r>
              <a:rPr lang="en-US" sz="1000">
                <a:solidFill>
                  <a:srgbClr val="0D47A1"/>
                </a:solidFill>
                <a:latin typeface="Consolas"/>
                <a:hlinkClick r:id="rId2"/>
              </a:rPr>
              <a:t>https://shop.googlemerchandisestore.com/Google</a:t>
            </a:r>
            <a:r>
              <a:rPr lang="en-US" sz="1000">
                <a:latin typeface="Consolas"/>
              </a:rPr>
              <a:t>...        </a:t>
            </a:r>
            <a:r>
              <a:rPr lang="en-US" sz="1000">
                <a:solidFill>
                  <a:srgbClr val="00B050"/>
                </a:solidFill>
                <a:latin typeface="Consolas"/>
              </a:rPr>
              <a:t>100%            </a:t>
            </a:r>
            <a:r>
              <a:rPr lang="en-US" sz="1000" b="1">
                <a:solidFill>
                  <a:schemeClr val="accent1">
                    <a:lumMod val="60000"/>
                    <a:lumOff val="40000"/>
                  </a:schemeClr>
                </a:solidFill>
                <a:latin typeface="Consolas"/>
              </a:rPr>
              <a:t>2 </a:t>
            </a:r>
            <a:r>
              <a:rPr lang="en-US" sz="1000" b="1">
                <a:latin typeface="Consolas"/>
              </a:rPr>
              <a:t> </a:t>
            </a:r>
            <a:r>
              <a:rPr lang="en-US" sz="1000">
                <a:latin typeface="Consolas"/>
              </a:rPr>
              <a:t> 
    </a:t>
            </a:r>
            <a:r>
              <a:rPr lang="en-US" sz="1000">
                <a:solidFill>
                  <a:srgbClr val="0D47A1"/>
                </a:solidFill>
                <a:latin typeface="Consolas"/>
                <a:hlinkClick r:id="rId3"/>
              </a:rPr>
              <a:t>https://shop.googlemerchandisestore.com/google</a:t>
            </a:r>
            <a:r>
              <a:rPr lang="en-US" sz="1000">
                <a:latin typeface="Consolas"/>
              </a:rPr>
              <a:t>...        </a:t>
            </a:r>
            <a:r>
              <a:rPr lang="en-US" sz="1000">
                <a:solidFill>
                  <a:srgbClr val="00B050"/>
                </a:solidFill>
                <a:latin typeface="Consolas"/>
              </a:rPr>
              <a:t>100%            </a:t>
            </a:r>
            <a:r>
              <a:rPr lang="en-US" sz="1000" b="1">
                <a:solidFill>
                  <a:schemeClr val="accent1">
                    <a:lumMod val="60000"/>
                    <a:lumOff val="40000"/>
                  </a:schemeClr>
                </a:solidFill>
                <a:latin typeface="Consolas"/>
              </a:rPr>
              <a:t>1 </a:t>
            </a:r>
            <a:r>
              <a:rPr lang="en-US" sz="1000" b="1">
                <a:latin typeface="Consolas"/>
              </a:rPr>
              <a:t> </a:t>
            </a:r>
            <a:r>
              <a:rPr lang="en-US" sz="1000">
                <a:latin typeface="Consolas"/>
              </a:rPr>
              <a:t> 
    </a:t>
            </a:r>
            <a:r>
              <a:rPr lang="en-US" sz="1000">
                <a:solidFill>
                  <a:srgbClr val="0D47A1"/>
                </a:solidFill>
                <a:latin typeface="Consolas"/>
                <a:hlinkClick r:id="rId3"/>
              </a:rPr>
              <a:t>https://shop.googlemerchandisestore.com/google</a:t>
            </a:r>
            <a:r>
              <a:rPr lang="en-US" sz="1000">
                <a:latin typeface="Consolas"/>
              </a:rPr>
              <a:t>...        </a:t>
            </a:r>
            <a:r>
              <a:rPr lang="en-US" sz="1000">
                <a:solidFill>
                  <a:srgbClr val="00B050"/>
                </a:solidFill>
                <a:latin typeface="Consolas"/>
              </a:rPr>
              <a:t>100%</a:t>
            </a:r>
            <a:r>
              <a:rPr lang="en-US" sz="1000">
                <a:latin typeface="Consolas"/>
              </a:rPr>
              <a:t>            </a:t>
            </a:r>
            <a:r>
              <a:rPr lang="en-US" sz="1000" b="1">
                <a:solidFill>
                  <a:schemeClr val="accent1">
                    <a:lumMod val="60000"/>
                    <a:lumOff val="40000"/>
                  </a:schemeClr>
                </a:solidFill>
                <a:latin typeface="Consolas"/>
              </a:rPr>
              <a:t>4 </a:t>
            </a:r>
            <a:r>
              <a:rPr lang="en-US" sz="1000">
                <a:latin typeface="Consolas"/>
              </a:rPr>
              <a:t>  
    </a:t>
            </a:r>
            <a:r>
              <a:rPr lang="en-US" sz="1000">
                <a:solidFill>
                  <a:srgbClr val="0D47A1"/>
                </a:solidFill>
                <a:latin typeface="Consolas"/>
                <a:hlinkClick r:id="rId3"/>
              </a:rPr>
              <a:t>https://shop.googlemerchandisestore.com/google</a:t>
            </a:r>
            <a:r>
              <a:rPr lang="en-US" sz="1000">
                <a:latin typeface="Consolas"/>
              </a:rPr>
              <a:t>...        </a:t>
            </a:r>
            <a:r>
              <a:rPr lang="en-US" sz="1000">
                <a:solidFill>
                  <a:srgbClr val="00B050"/>
                </a:solidFill>
                <a:latin typeface="Consolas"/>
              </a:rPr>
              <a:t>100%</a:t>
            </a:r>
            <a:r>
              <a:rPr lang="en-US" sz="1000">
                <a:latin typeface="Consolas"/>
              </a:rPr>
              <a:t>            </a:t>
            </a:r>
            <a:r>
              <a:rPr lang="en-US" sz="1000" b="1">
                <a:solidFill>
                  <a:schemeClr val="accent1">
                    <a:lumMod val="60000"/>
                    <a:lumOff val="40000"/>
                  </a:schemeClr>
                </a:solidFill>
                <a:latin typeface="Consolas"/>
              </a:rPr>
              <a:t>1 </a:t>
            </a:r>
            <a:r>
              <a:rPr lang="en-US" sz="1000">
                <a:latin typeface="Consolas"/>
              </a:rPr>
              <a:t>  
    </a:t>
            </a:r>
            <a:r>
              <a:rPr lang="en-US" sz="1000">
                <a:solidFill>
                  <a:srgbClr val="0D47A1"/>
                </a:solidFill>
                <a:latin typeface="Consolas"/>
                <a:hlinkClick r:id="rId3"/>
              </a:rPr>
              <a:t>https://shop.googlemerchandisestore.com/google</a:t>
            </a:r>
            <a:r>
              <a:rPr lang="en-US" sz="1000">
                <a:latin typeface="Consolas"/>
              </a:rPr>
              <a:t>...        </a:t>
            </a:r>
            <a:r>
              <a:rPr lang="en-US" sz="1000">
                <a:solidFill>
                  <a:srgbClr val="00B050"/>
                </a:solidFill>
                <a:latin typeface="Consolas"/>
              </a:rPr>
              <a:t>100%</a:t>
            </a:r>
            <a:r>
              <a:rPr lang="en-US" sz="1000">
                <a:latin typeface="Consolas"/>
              </a:rPr>
              <a:t>            </a:t>
            </a:r>
            <a:r>
              <a:rPr lang="en-US" sz="1000" b="1">
                <a:solidFill>
                  <a:schemeClr val="accent1">
                    <a:lumMod val="60000"/>
                    <a:lumOff val="40000"/>
                  </a:schemeClr>
                </a:solidFill>
                <a:latin typeface="Consolas"/>
              </a:rPr>
              <a:t>1 </a:t>
            </a:r>
            <a:r>
              <a:rPr lang="en-US" sz="1000">
                <a:latin typeface="Consolas"/>
              </a:rPr>
              <a:t>  </a:t>
            </a:r>
            <a:endParaRPr lang="en-US"/>
          </a:p>
        </p:txBody>
      </p:sp>
      <p:pic>
        <p:nvPicPr>
          <p:cNvPr id="6" name="Picture 5" descr="A screenshot of a computer program&#10;&#10;AI-generated content may be incorrect.">
            <a:extLst>
              <a:ext uri="{FF2B5EF4-FFF2-40B4-BE49-F238E27FC236}">
                <a16:creationId xmlns:a16="http://schemas.microsoft.com/office/drawing/2014/main" id="{9F53CA0D-A2C5-C3C6-5125-0949A6CB6753}"/>
              </a:ext>
            </a:extLst>
          </p:cNvPr>
          <p:cNvPicPr>
            <a:picLocks noChangeAspect="1"/>
          </p:cNvPicPr>
          <p:nvPr/>
        </p:nvPicPr>
        <p:blipFill>
          <a:blip r:embed="rId4"/>
          <a:srcRect l="5913" t="20620" r="208" b="27027"/>
          <a:stretch>
            <a:fillRect/>
          </a:stretch>
        </p:blipFill>
        <p:spPr>
          <a:xfrm>
            <a:off x="1267124" y="1506801"/>
            <a:ext cx="5409765" cy="2104800"/>
          </a:xfrm>
          <a:prstGeom prst="rect">
            <a:avLst/>
          </a:prstGeom>
          <a:ln>
            <a:solidFill>
              <a:schemeClr val="tx1"/>
            </a:solidFill>
          </a:ln>
        </p:spPr>
      </p:pic>
      <p:sp>
        <p:nvSpPr>
          <p:cNvPr id="13" name="TextBox 12">
            <a:extLst>
              <a:ext uri="{FF2B5EF4-FFF2-40B4-BE49-F238E27FC236}">
                <a16:creationId xmlns:a16="http://schemas.microsoft.com/office/drawing/2014/main" id="{7902B0A7-D0CC-AD6B-5745-0284CA3A3025}"/>
              </a:ext>
            </a:extLst>
          </p:cNvPr>
          <p:cNvSpPr txBox="1"/>
          <p:nvPr/>
        </p:nvSpPr>
        <p:spPr>
          <a:xfrm>
            <a:off x="1166526" y="3985755"/>
            <a:ext cx="571509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Start off by sorting values chronologically and then grouping by sessions. The last() function extracts only the last page view event from each session. This event will have the exit page for each session from the </a:t>
            </a:r>
            <a:r>
              <a:rPr lang="en-US" err="1"/>
              <a:t>page_location</a:t>
            </a:r>
            <a:r>
              <a:rPr lang="en-US"/>
              <a:t> column. </a:t>
            </a:r>
          </a:p>
          <a:p>
            <a:endParaRPr lang="en-US"/>
          </a:p>
          <a:p>
            <a:r>
              <a:rPr lang="en-US"/>
              <a:t>Then, we count how many times a specific page was the last viewed page; the exit page. As well, count the number of views for each page. </a:t>
            </a:r>
          </a:p>
          <a:p>
            <a:endParaRPr lang="en-US"/>
          </a:p>
        </p:txBody>
      </p:sp>
      <p:sp>
        <p:nvSpPr>
          <p:cNvPr id="15" name="TextBox 14">
            <a:extLst>
              <a:ext uri="{FF2B5EF4-FFF2-40B4-BE49-F238E27FC236}">
                <a16:creationId xmlns:a16="http://schemas.microsoft.com/office/drawing/2014/main" id="{4A9C4448-0AF3-AA41-B545-79B850D86482}"/>
              </a:ext>
            </a:extLst>
          </p:cNvPr>
          <p:cNvSpPr txBox="1"/>
          <p:nvPr/>
        </p:nvSpPr>
        <p:spPr>
          <a:xfrm>
            <a:off x="7111612" y="3985755"/>
            <a:ext cx="4822416"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Now we have to calculate the exit rate by dividing the number of exits by the number of page visits. </a:t>
            </a:r>
          </a:p>
          <a:p>
            <a:endParaRPr lang="en-US"/>
          </a:p>
          <a:p>
            <a:r>
              <a:rPr lang="en-US"/>
              <a:t>Finally, we have to create a data frame to display the top 5 pages. The variables included are: </a:t>
            </a:r>
          </a:p>
          <a:p>
            <a:pPr marL="285750" indent="-285750">
              <a:buFont typeface="Arial"/>
              <a:buChar char="•"/>
            </a:pPr>
            <a:r>
              <a:rPr lang="en-US"/>
              <a:t>Page URL (Identifier too)  </a:t>
            </a:r>
          </a:p>
          <a:p>
            <a:pPr marL="285750" indent="-285750">
              <a:buFont typeface="Arial"/>
              <a:buChar char="•"/>
            </a:pPr>
            <a:r>
              <a:rPr lang="en-US"/>
              <a:t>Exit rate  </a:t>
            </a:r>
          </a:p>
          <a:p>
            <a:pPr marL="285750" indent="-285750">
              <a:buFont typeface="Arial"/>
              <a:buChar char="•"/>
            </a:pPr>
            <a:r>
              <a:rPr lang="en-US"/>
              <a:t>Total number of exits from page</a:t>
            </a:r>
          </a:p>
          <a:p>
            <a:pPr marL="285750" indent="-285750">
              <a:buFont typeface="Arial"/>
              <a:buChar char="•"/>
            </a:pPr>
            <a:r>
              <a:rPr lang="en-US"/>
              <a:t>Total number of views from that page </a:t>
            </a:r>
          </a:p>
        </p:txBody>
      </p:sp>
    </p:spTree>
    <p:extLst>
      <p:ext uri="{BB962C8B-B14F-4D97-AF65-F5344CB8AC3E}">
        <p14:creationId xmlns:p14="http://schemas.microsoft.com/office/powerpoint/2010/main" val="3935054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54D81-2CC4-0940-C67C-722F27F99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0AF8EF-A8EA-F67E-BE51-638DFD5E3D8D}"/>
              </a:ext>
            </a:extLst>
          </p:cNvPr>
          <p:cNvSpPr>
            <a:spLocks noGrp="1"/>
          </p:cNvSpPr>
          <p:nvPr>
            <p:ph type="title"/>
          </p:nvPr>
        </p:nvSpPr>
        <p:spPr>
          <a:xfrm>
            <a:off x="9030730" y="-2059"/>
            <a:ext cx="4324865" cy="620155"/>
          </a:xfrm>
        </p:spPr>
        <p:txBody>
          <a:bodyPr>
            <a:normAutofit/>
          </a:bodyPr>
          <a:lstStyle/>
          <a:p>
            <a:r>
              <a:rPr lang="en-CA" sz="1400" b="1">
                <a:solidFill>
                  <a:srgbClr val="C00000"/>
                </a:solidFill>
              </a:rPr>
              <a:t>Python Metrics Calculations</a:t>
            </a:r>
          </a:p>
        </p:txBody>
      </p:sp>
      <p:sp>
        <p:nvSpPr>
          <p:cNvPr id="3" name="Content Placeholder 2">
            <a:extLst>
              <a:ext uri="{FF2B5EF4-FFF2-40B4-BE49-F238E27FC236}">
                <a16:creationId xmlns:a16="http://schemas.microsoft.com/office/drawing/2014/main" id="{D5CBD18D-3DDE-2DA7-21D3-F99FA016CB7E}"/>
              </a:ext>
            </a:extLst>
          </p:cNvPr>
          <p:cNvSpPr>
            <a:spLocks noGrp="1"/>
          </p:cNvSpPr>
          <p:nvPr>
            <p:ph idx="1"/>
          </p:nvPr>
        </p:nvSpPr>
        <p:spPr>
          <a:xfrm>
            <a:off x="895865" y="1412311"/>
            <a:ext cx="9906000" cy="4024424"/>
          </a:xfrm>
        </p:spPr>
        <p:txBody>
          <a:bodyPr vert="horz" lIns="91440" tIns="45720" rIns="91440" bIns="45720" rtlCol="0" anchor="t">
            <a:normAutofit/>
          </a:bodyPr>
          <a:lstStyle/>
          <a:p>
            <a:pPr marL="0" indent="0">
              <a:buNone/>
            </a:pPr>
            <a:endParaRPr lang="en-CA"/>
          </a:p>
          <a:p>
            <a:pPr lvl="1">
              <a:buFont typeface="Courier New" panose="020B0604020202020204" pitchFamily="34" charset="0"/>
              <a:buChar char="o"/>
            </a:pPr>
            <a:endParaRPr lang="en-CA"/>
          </a:p>
        </p:txBody>
      </p:sp>
      <p:sp>
        <p:nvSpPr>
          <p:cNvPr id="4" name="TextBox 3">
            <a:extLst>
              <a:ext uri="{FF2B5EF4-FFF2-40B4-BE49-F238E27FC236}">
                <a16:creationId xmlns:a16="http://schemas.microsoft.com/office/drawing/2014/main" id="{6BCB2AFF-C12D-8BF3-4A98-F3149F0D2477}"/>
              </a:ext>
            </a:extLst>
          </p:cNvPr>
          <p:cNvSpPr txBox="1"/>
          <p:nvPr/>
        </p:nvSpPr>
        <p:spPr>
          <a:xfrm>
            <a:off x="1147933" y="425407"/>
            <a:ext cx="597592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t>6. Exit Rate: Top 5 Pages </a:t>
            </a:r>
          </a:p>
        </p:txBody>
      </p:sp>
      <p:sp>
        <p:nvSpPr>
          <p:cNvPr id="13" name="TextBox 12">
            <a:extLst>
              <a:ext uri="{FF2B5EF4-FFF2-40B4-BE49-F238E27FC236}">
                <a16:creationId xmlns:a16="http://schemas.microsoft.com/office/drawing/2014/main" id="{F1090ECE-AED1-1DB7-2AD1-84F980CD975B}"/>
              </a:ext>
            </a:extLst>
          </p:cNvPr>
          <p:cNvSpPr txBox="1"/>
          <p:nvPr/>
        </p:nvSpPr>
        <p:spPr>
          <a:xfrm>
            <a:off x="8389132" y="1318510"/>
            <a:ext cx="2412733"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a:t>Unusually, the top 5 pages with the highest exit rates are all 100% meaning users exited every time they viewed this page. </a:t>
            </a:r>
          </a:p>
          <a:p>
            <a:pPr marL="285750" indent="-285750">
              <a:buFont typeface="Arial" panose="020B0604020202020204" pitchFamily="34" charset="0"/>
              <a:buChar char="•"/>
            </a:pPr>
            <a:r>
              <a:rPr lang="en-US"/>
              <a:t>Upon further inspection we noticed that the number of visits to these pages and the number of exits were all very low, (4 or lower) so they were likely outliers </a:t>
            </a:r>
          </a:p>
        </p:txBody>
      </p:sp>
      <p:pic>
        <p:nvPicPr>
          <p:cNvPr id="12" name="Picture 11">
            <a:extLst>
              <a:ext uri="{FF2B5EF4-FFF2-40B4-BE49-F238E27FC236}">
                <a16:creationId xmlns:a16="http://schemas.microsoft.com/office/drawing/2014/main" id="{7A8E71AE-7C82-D33B-2173-164AEDEA2FD4}"/>
              </a:ext>
            </a:extLst>
          </p:cNvPr>
          <p:cNvPicPr>
            <a:picLocks noChangeAspect="1"/>
          </p:cNvPicPr>
          <p:nvPr/>
        </p:nvPicPr>
        <p:blipFill>
          <a:blip r:embed="rId2"/>
          <a:stretch>
            <a:fillRect/>
          </a:stretch>
        </p:blipFill>
        <p:spPr>
          <a:xfrm>
            <a:off x="562390" y="1771307"/>
            <a:ext cx="7147014" cy="3944446"/>
          </a:xfrm>
          <a:prstGeom prst="rect">
            <a:avLst/>
          </a:prstGeom>
        </p:spPr>
      </p:pic>
      <p:pic>
        <p:nvPicPr>
          <p:cNvPr id="20" name="Picture 19">
            <a:extLst>
              <a:ext uri="{FF2B5EF4-FFF2-40B4-BE49-F238E27FC236}">
                <a16:creationId xmlns:a16="http://schemas.microsoft.com/office/drawing/2014/main" id="{732C14D2-B0CC-E454-10D9-321A60BB0820}"/>
              </a:ext>
            </a:extLst>
          </p:cNvPr>
          <p:cNvPicPr>
            <a:picLocks noChangeAspect="1"/>
          </p:cNvPicPr>
          <p:nvPr/>
        </p:nvPicPr>
        <p:blipFill>
          <a:blip r:embed="rId3"/>
          <a:stretch>
            <a:fillRect/>
          </a:stretch>
        </p:blipFill>
        <p:spPr>
          <a:xfrm>
            <a:off x="7326578" y="2712406"/>
            <a:ext cx="914528" cy="1762371"/>
          </a:xfrm>
          <a:prstGeom prst="rect">
            <a:avLst/>
          </a:prstGeom>
        </p:spPr>
      </p:pic>
      <p:pic>
        <p:nvPicPr>
          <p:cNvPr id="22" name="Picture 21">
            <a:extLst>
              <a:ext uri="{FF2B5EF4-FFF2-40B4-BE49-F238E27FC236}">
                <a16:creationId xmlns:a16="http://schemas.microsoft.com/office/drawing/2014/main" id="{59D95E75-DDA5-C4E3-A6C7-1D47BCB55F2B}"/>
              </a:ext>
            </a:extLst>
          </p:cNvPr>
          <p:cNvPicPr>
            <a:picLocks noChangeAspect="1"/>
          </p:cNvPicPr>
          <p:nvPr/>
        </p:nvPicPr>
        <p:blipFill>
          <a:blip r:embed="rId4"/>
          <a:stretch>
            <a:fillRect/>
          </a:stretch>
        </p:blipFill>
        <p:spPr>
          <a:xfrm>
            <a:off x="7491951" y="2846341"/>
            <a:ext cx="781159" cy="1829055"/>
          </a:xfrm>
          <a:prstGeom prst="rect">
            <a:avLst/>
          </a:prstGeom>
        </p:spPr>
      </p:pic>
      <p:pic>
        <p:nvPicPr>
          <p:cNvPr id="24" name="Picture 23">
            <a:extLst>
              <a:ext uri="{FF2B5EF4-FFF2-40B4-BE49-F238E27FC236}">
                <a16:creationId xmlns:a16="http://schemas.microsoft.com/office/drawing/2014/main" id="{F0684A9C-E058-DAC4-7152-B1973A1345A2}"/>
              </a:ext>
            </a:extLst>
          </p:cNvPr>
          <p:cNvPicPr>
            <a:picLocks noChangeAspect="1"/>
          </p:cNvPicPr>
          <p:nvPr/>
        </p:nvPicPr>
        <p:blipFill>
          <a:blip r:embed="rId4"/>
          <a:stretch>
            <a:fillRect/>
          </a:stretch>
        </p:blipFill>
        <p:spPr>
          <a:xfrm>
            <a:off x="6812223" y="3195795"/>
            <a:ext cx="553764" cy="685928"/>
          </a:xfrm>
          <a:prstGeom prst="rect">
            <a:avLst/>
          </a:prstGeom>
        </p:spPr>
      </p:pic>
      <p:cxnSp>
        <p:nvCxnSpPr>
          <p:cNvPr id="26" name="Straight Arrow Connector 25">
            <a:extLst>
              <a:ext uri="{FF2B5EF4-FFF2-40B4-BE49-F238E27FC236}">
                <a16:creationId xmlns:a16="http://schemas.microsoft.com/office/drawing/2014/main" id="{50D8EE92-A390-8058-7B45-33CC2E7F1002}"/>
              </a:ext>
            </a:extLst>
          </p:cNvPr>
          <p:cNvCxnSpPr/>
          <p:nvPr/>
        </p:nvCxnSpPr>
        <p:spPr>
          <a:xfrm flipH="1" flipV="1">
            <a:off x="7626096" y="3666744"/>
            <a:ext cx="1133856" cy="676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0803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B2AB2-92B5-E329-78D7-5990E11E45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968D2-95D5-6DFC-8D51-02F83A5537BB}"/>
              </a:ext>
            </a:extLst>
          </p:cNvPr>
          <p:cNvSpPr>
            <a:spLocks noGrp="1"/>
          </p:cNvSpPr>
          <p:nvPr>
            <p:ph type="title"/>
          </p:nvPr>
        </p:nvSpPr>
        <p:spPr>
          <a:xfrm>
            <a:off x="9030730" y="-2059"/>
            <a:ext cx="4324865" cy="620155"/>
          </a:xfrm>
        </p:spPr>
        <p:txBody>
          <a:bodyPr>
            <a:normAutofit/>
          </a:bodyPr>
          <a:lstStyle/>
          <a:p>
            <a:r>
              <a:rPr lang="en-CA" sz="1400" b="1">
                <a:solidFill>
                  <a:srgbClr val="C00000"/>
                </a:solidFill>
              </a:rPr>
              <a:t>Python Metrics Calculations</a:t>
            </a:r>
          </a:p>
        </p:txBody>
      </p:sp>
      <p:sp>
        <p:nvSpPr>
          <p:cNvPr id="4" name="TextBox 3">
            <a:extLst>
              <a:ext uri="{FF2B5EF4-FFF2-40B4-BE49-F238E27FC236}">
                <a16:creationId xmlns:a16="http://schemas.microsoft.com/office/drawing/2014/main" id="{6F7BFD84-7FD7-DB5B-8974-E184FEDF58F0}"/>
              </a:ext>
            </a:extLst>
          </p:cNvPr>
          <p:cNvSpPr txBox="1"/>
          <p:nvPr/>
        </p:nvSpPr>
        <p:spPr>
          <a:xfrm>
            <a:off x="1147933" y="425407"/>
            <a:ext cx="597592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t>7. Bounce Rate</a:t>
            </a:r>
          </a:p>
        </p:txBody>
      </p:sp>
      <p:sp>
        <p:nvSpPr>
          <p:cNvPr id="9" name="TextBox 8">
            <a:extLst>
              <a:ext uri="{FF2B5EF4-FFF2-40B4-BE49-F238E27FC236}">
                <a16:creationId xmlns:a16="http://schemas.microsoft.com/office/drawing/2014/main" id="{0E25762C-7680-DA94-4054-84951B02C01B}"/>
              </a:ext>
            </a:extLst>
          </p:cNvPr>
          <p:cNvSpPr txBox="1"/>
          <p:nvPr/>
        </p:nvSpPr>
        <p:spPr>
          <a:xfrm>
            <a:off x="1145931" y="1411871"/>
            <a:ext cx="2856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Python code:</a:t>
            </a:r>
          </a:p>
        </p:txBody>
      </p:sp>
      <p:pic>
        <p:nvPicPr>
          <p:cNvPr id="11" name="Content Placeholder 10" descr="A screen shot of a computer code&#10;&#10;AI-generated content may be incorrect.">
            <a:extLst>
              <a:ext uri="{FF2B5EF4-FFF2-40B4-BE49-F238E27FC236}">
                <a16:creationId xmlns:a16="http://schemas.microsoft.com/office/drawing/2014/main" id="{B3C721B7-2953-6260-9294-E6ED598FF32D}"/>
              </a:ext>
            </a:extLst>
          </p:cNvPr>
          <p:cNvPicPr>
            <a:picLocks noGrp="1" noChangeAspect="1"/>
          </p:cNvPicPr>
          <p:nvPr>
            <p:ph idx="1"/>
          </p:nvPr>
        </p:nvPicPr>
        <p:blipFill>
          <a:blip r:embed="rId2"/>
          <a:stretch>
            <a:fillRect/>
          </a:stretch>
        </p:blipFill>
        <p:spPr>
          <a:xfrm>
            <a:off x="1150398" y="1782562"/>
            <a:ext cx="6384525" cy="2577107"/>
          </a:xfrm>
          <a:prstGeom prst="rect">
            <a:avLst/>
          </a:prstGeom>
        </p:spPr>
      </p:pic>
      <p:sp>
        <p:nvSpPr>
          <p:cNvPr id="12" name="TextBox 11">
            <a:extLst>
              <a:ext uri="{FF2B5EF4-FFF2-40B4-BE49-F238E27FC236}">
                <a16:creationId xmlns:a16="http://schemas.microsoft.com/office/drawing/2014/main" id="{048C989F-2F00-35D7-C3B2-D7BCDE07CDA0}"/>
              </a:ext>
            </a:extLst>
          </p:cNvPr>
          <p:cNvSpPr txBox="1"/>
          <p:nvPr/>
        </p:nvSpPr>
        <p:spPr>
          <a:xfrm>
            <a:off x="7910840" y="1284347"/>
            <a:ext cx="383443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Next using </a:t>
            </a:r>
            <a:r>
              <a:rPr lang="en-US" err="1">
                <a:ea typeface="+mn-lt"/>
                <a:cs typeface="+mn-lt"/>
              </a:rPr>
              <a:t>pv_per_session</a:t>
            </a:r>
            <a:r>
              <a:rPr lang="en-US">
                <a:ea typeface="+mn-lt"/>
                <a:cs typeface="+mn-lt"/>
              </a:rPr>
              <a:t> == 1 it shows us how many session contain only one page view resulting in a bounce. </a:t>
            </a:r>
            <a:endParaRPr lang="en-US"/>
          </a:p>
          <a:p>
            <a:endParaRPr lang="en-US">
              <a:ea typeface="+mn-lt"/>
              <a:cs typeface="+mn-lt"/>
            </a:endParaRPr>
          </a:p>
          <a:p>
            <a:r>
              <a:rPr lang="en-US">
                <a:ea typeface="+mn-lt"/>
                <a:cs typeface="+mn-lt"/>
              </a:rPr>
              <a:t>Bounce count shows how many times a page was the only page visited, while entrance shows how many sessions started from that page. </a:t>
            </a:r>
            <a:endParaRPr lang="en-US"/>
          </a:p>
          <a:p>
            <a:endParaRPr lang="en-US"/>
          </a:p>
        </p:txBody>
      </p:sp>
      <p:sp>
        <p:nvSpPr>
          <p:cNvPr id="13" name="TextBox 12">
            <a:extLst>
              <a:ext uri="{FF2B5EF4-FFF2-40B4-BE49-F238E27FC236}">
                <a16:creationId xmlns:a16="http://schemas.microsoft.com/office/drawing/2014/main" id="{80471C7B-D9CC-57E2-895D-89D32071CCCE}"/>
              </a:ext>
            </a:extLst>
          </p:cNvPr>
          <p:cNvSpPr txBox="1"/>
          <p:nvPr/>
        </p:nvSpPr>
        <p:spPr>
          <a:xfrm>
            <a:off x="1098210" y="4569673"/>
            <a:ext cx="643104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Similar to last step we sort all page views chronologically and then grouping them using ga_session_id. By using the .first() we can extract the first page view from each session which shows us the entrance page. </a:t>
            </a:r>
            <a:endParaRPr lang="en-US"/>
          </a:p>
          <a:p>
            <a:pPr algn="l"/>
            <a:endParaRPr lang="en-US"/>
          </a:p>
        </p:txBody>
      </p:sp>
    </p:spTree>
    <p:extLst>
      <p:ext uri="{BB962C8B-B14F-4D97-AF65-F5344CB8AC3E}">
        <p14:creationId xmlns:p14="http://schemas.microsoft.com/office/powerpoint/2010/main" val="3240299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CB08A-840A-2EE4-D8C5-D34B9F1C2F62}"/>
            </a:ext>
          </a:extLst>
        </p:cNvPr>
        <p:cNvGrpSpPr/>
        <p:nvPr/>
      </p:nvGrpSpPr>
      <p:grpSpPr>
        <a:xfrm>
          <a:off x="0" y="0"/>
          <a:ext cx="0" cy="0"/>
          <a:chOff x="0" y="0"/>
          <a:chExt cx="0" cy="0"/>
        </a:xfrm>
      </p:grpSpPr>
      <p:pic>
        <p:nvPicPr>
          <p:cNvPr id="7" name="Content Placeholder 6" descr="A graph with blue and white bars&#10;&#10;AI-generated content may be incorrect.">
            <a:extLst>
              <a:ext uri="{FF2B5EF4-FFF2-40B4-BE49-F238E27FC236}">
                <a16:creationId xmlns:a16="http://schemas.microsoft.com/office/drawing/2014/main" id="{D503920A-3905-17A4-BE98-93CDE0921811}"/>
              </a:ext>
            </a:extLst>
          </p:cNvPr>
          <p:cNvPicPr>
            <a:picLocks noGrp="1" noChangeAspect="1"/>
          </p:cNvPicPr>
          <p:nvPr>
            <p:ph idx="1"/>
          </p:nvPr>
        </p:nvPicPr>
        <p:blipFill>
          <a:blip r:embed="rId2"/>
          <a:stretch>
            <a:fillRect/>
          </a:stretch>
        </p:blipFill>
        <p:spPr>
          <a:xfrm>
            <a:off x="6011939" y="3059064"/>
            <a:ext cx="6573253" cy="3459088"/>
          </a:xfrm>
          <a:prstGeom prst="rect">
            <a:avLst/>
          </a:prstGeom>
        </p:spPr>
      </p:pic>
      <p:sp>
        <p:nvSpPr>
          <p:cNvPr id="2" name="Title 1">
            <a:extLst>
              <a:ext uri="{FF2B5EF4-FFF2-40B4-BE49-F238E27FC236}">
                <a16:creationId xmlns:a16="http://schemas.microsoft.com/office/drawing/2014/main" id="{E53485F7-714E-80E6-CC94-6385355576D2}"/>
              </a:ext>
            </a:extLst>
          </p:cNvPr>
          <p:cNvSpPr>
            <a:spLocks noGrp="1"/>
          </p:cNvSpPr>
          <p:nvPr>
            <p:ph type="title"/>
          </p:nvPr>
        </p:nvSpPr>
        <p:spPr>
          <a:xfrm>
            <a:off x="9030730" y="-2059"/>
            <a:ext cx="4324865" cy="620155"/>
          </a:xfrm>
        </p:spPr>
        <p:txBody>
          <a:bodyPr>
            <a:normAutofit/>
          </a:bodyPr>
          <a:lstStyle/>
          <a:p>
            <a:r>
              <a:rPr lang="en-CA" sz="1400" b="1">
                <a:solidFill>
                  <a:srgbClr val="C00000"/>
                </a:solidFill>
              </a:rPr>
              <a:t>Python Metrics Calculations</a:t>
            </a:r>
          </a:p>
        </p:txBody>
      </p:sp>
      <p:sp>
        <p:nvSpPr>
          <p:cNvPr id="4" name="TextBox 3">
            <a:extLst>
              <a:ext uri="{FF2B5EF4-FFF2-40B4-BE49-F238E27FC236}">
                <a16:creationId xmlns:a16="http://schemas.microsoft.com/office/drawing/2014/main" id="{20667C35-D7AB-99EA-B408-329CAAD81D4D}"/>
              </a:ext>
            </a:extLst>
          </p:cNvPr>
          <p:cNvSpPr txBox="1"/>
          <p:nvPr/>
        </p:nvSpPr>
        <p:spPr>
          <a:xfrm>
            <a:off x="1147933" y="425407"/>
            <a:ext cx="597592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t>7. Bounce Rate Cont.</a:t>
            </a:r>
          </a:p>
        </p:txBody>
      </p:sp>
      <p:sp>
        <p:nvSpPr>
          <p:cNvPr id="9" name="TextBox 8">
            <a:extLst>
              <a:ext uri="{FF2B5EF4-FFF2-40B4-BE49-F238E27FC236}">
                <a16:creationId xmlns:a16="http://schemas.microsoft.com/office/drawing/2014/main" id="{A66BD238-9EC1-9212-DDFD-90029347A730}"/>
              </a:ext>
            </a:extLst>
          </p:cNvPr>
          <p:cNvSpPr txBox="1"/>
          <p:nvPr/>
        </p:nvSpPr>
        <p:spPr>
          <a:xfrm>
            <a:off x="1145931" y="1411871"/>
            <a:ext cx="2856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Python code:</a:t>
            </a:r>
          </a:p>
        </p:txBody>
      </p:sp>
      <p:pic>
        <p:nvPicPr>
          <p:cNvPr id="3" name="Picture 2" descr="A screen shot of a computer&#10;&#10;AI-generated content may be incorrect.">
            <a:extLst>
              <a:ext uri="{FF2B5EF4-FFF2-40B4-BE49-F238E27FC236}">
                <a16:creationId xmlns:a16="http://schemas.microsoft.com/office/drawing/2014/main" id="{AD089602-2C1B-BF29-C137-37219A990307}"/>
              </a:ext>
            </a:extLst>
          </p:cNvPr>
          <p:cNvPicPr>
            <a:picLocks noChangeAspect="1"/>
          </p:cNvPicPr>
          <p:nvPr/>
        </p:nvPicPr>
        <p:blipFill>
          <a:blip r:embed="rId3"/>
          <a:stretch>
            <a:fillRect/>
          </a:stretch>
        </p:blipFill>
        <p:spPr>
          <a:xfrm>
            <a:off x="847726" y="1281793"/>
            <a:ext cx="6278335" cy="2559504"/>
          </a:xfrm>
          <a:prstGeom prst="rect">
            <a:avLst/>
          </a:prstGeom>
        </p:spPr>
      </p:pic>
      <p:sp>
        <p:nvSpPr>
          <p:cNvPr id="8" name="TextBox 7">
            <a:extLst>
              <a:ext uri="{FF2B5EF4-FFF2-40B4-BE49-F238E27FC236}">
                <a16:creationId xmlns:a16="http://schemas.microsoft.com/office/drawing/2014/main" id="{F7608D8F-F346-1648-8988-41B60BF3E07D}"/>
              </a:ext>
            </a:extLst>
          </p:cNvPr>
          <p:cNvSpPr txBox="1"/>
          <p:nvPr/>
        </p:nvSpPr>
        <p:spPr>
          <a:xfrm>
            <a:off x="793071" y="4071891"/>
            <a:ext cx="5397623"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Similarly to the exit rate, bounce rate is 1.0 meaning 100% of users bounced after reaching that page. All top 5 pages have a 1.0 bounce rate with only one or 2 entrances on each page, indicating that these are outliers as well.</a:t>
            </a:r>
            <a:br>
              <a:rPr lang="en-US"/>
            </a:br>
            <a:r>
              <a:rPr lang="en-US"/>
              <a:t>In future, we could calculate a more meaningful bounce rate by limiting the minimum number of entrances.</a:t>
            </a:r>
          </a:p>
          <a:p>
            <a:endParaRPr lang="en-US"/>
          </a:p>
        </p:txBody>
      </p:sp>
    </p:spTree>
    <p:extLst>
      <p:ext uri="{BB962C8B-B14F-4D97-AF65-F5344CB8AC3E}">
        <p14:creationId xmlns:p14="http://schemas.microsoft.com/office/powerpoint/2010/main" val="2510591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06B91-6E0B-FE07-CCDD-12C1DF4AD6DE}"/>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E3656063-FE25-47FE-3E32-81CB50A7AF31}"/>
              </a:ext>
            </a:extLst>
          </p:cNvPr>
          <p:cNvSpPr>
            <a:spLocks noGrp="1"/>
          </p:cNvSpPr>
          <p:nvPr>
            <p:ph idx="1"/>
          </p:nvPr>
        </p:nvSpPr>
        <p:spPr>
          <a:xfrm>
            <a:off x="1143000" y="1942139"/>
            <a:ext cx="9906000" cy="4382460"/>
          </a:xfrm>
        </p:spPr>
        <p:txBody>
          <a:bodyPr vert="horz" lIns="91440" tIns="45720" rIns="91440" bIns="45720" rtlCol="0" anchor="t">
            <a:normAutofit fontScale="92500" lnSpcReduction="10000"/>
          </a:bodyPr>
          <a:lstStyle/>
          <a:p>
            <a:pPr>
              <a:lnSpc>
                <a:spcPct val="120000"/>
              </a:lnSpc>
            </a:pPr>
            <a:r>
              <a:rPr lang="en-US"/>
              <a:t>Extracted ecommerce data using GA4 and SQL as a basis to retrieve data through </a:t>
            </a:r>
            <a:r>
              <a:rPr lang="en-US" err="1"/>
              <a:t>BigQuery</a:t>
            </a:r>
            <a:endParaRPr lang="en-US"/>
          </a:p>
          <a:p>
            <a:pPr>
              <a:lnSpc>
                <a:spcPct val="150000"/>
              </a:lnSpc>
            </a:pPr>
            <a:r>
              <a:rPr lang="en-US"/>
              <a:t>Key metrics were calculated using Python- Sessions : </a:t>
            </a:r>
          </a:p>
          <a:p>
            <a:pPr lvl="1">
              <a:lnSpc>
                <a:spcPct val="120000"/>
              </a:lnSpc>
            </a:pPr>
            <a:r>
              <a:rPr lang="en-US"/>
              <a:t>31,046  Sessions</a:t>
            </a:r>
          </a:p>
          <a:p>
            <a:pPr lvl="1">
              <a:lnSpc>
                <a:spcPct val="120000"/>
              </a:lnSpc>
            </a:pPr>
            <a:r>
              <a:rPr lang="en-US"/>
              <a:t>25,199  Visitors</a:t>
            </a:r>
          </a:p>
          <a:p>
            <a:pPr lvl="1">
              <a:lnSpc>
                <a:spcPct val="120000"/>
              </a:lnSpc>
            </a:pPr>
            <a:r>
              <a:rPr lang="en-US" sz="2100"/>
              <a:t>Avg session duration</a:t>
            </a:r>
            <a:r>
              <a:rPr lang="en-US"/>
              <a:t> ~1.013s</a:t>
            </a:r>
            <a:endParaRPr lang="en-US" sz="1700">
              <a:solidFill>
                <a:srgbClr val="001E2E"/>
              </a:solidFill>
            </a:endParaRPr>
          </a:p>
          <a:p>
            <a:pPr lvl="1">
              <a:lnSpc>
                <a:spcPct val="120000"/>
              </a:lnSpc>
            </a:pPr>
            <a:r>
              <a:rPr lang="en-US"/>
              <a:t> </a:t>
            </a:r>
            <a:r>
              <a:rPr lang="en-US" sz="2100"/>
              <a:t>Engagement rate </a:t>
            </a:r>
            <a:r>
              <a:rPr lang="en-US"/>
              <a:t>43.7%</a:t>
            </a:r>
            <a:endParaRPr lang="en-US" sz="2100">
              <a:solidFill>
                <a:srgbClr val="000000"/>
              </a:solidFill>
            </a:endParaRPr>
          </a:p>
          <a:p>
            <a:pPr lvl="1">
              <a:lnSpc>
                <a:spcPct val="120000"/>
              </a:lnSpc>
            </a:pPr>
            <a:r>
              <a:rPr lang="en-US"/>
              <a:t>Conversion rate: 1.8%</a:t>
            </a:r>
          </a:p>
          <a:p>
            <a:pPr>
              <a:lnSpc>
                <a:spcPct val="150000"/>
              </a:lnSpc>
            </a:pPr>
            <a:r>
              <a:rPr lang="en-US"/>
              <a:t>Exit and bounce rate analysis revealed some outliers. </a:t>
            </a:r>
          </a:p>
          <a:p>
            <a:pPr>
              <a:lnSpc>
                <a:spcPct val="150000"/>
              </a:lnSpc>
            </a:pPr>
            <a:r>
              <a:rPr lang="en-US"/>
              <a:t>Exploratory analysis showed there could be more insights taken from the dataset.</a:t>
            </a:r>
          </a:p>
          <a:p>
            <a:pPr>
              <a:lnSpc>
                <a:spcPct val="150000"/>
              </a:lnSpc>
            </a:pPr>
            <a:endParaRPr lang="en-US"/>
          </a:p>
        </p:txBody>
      </p:sp>
    </p:spTree>
    <p:extLst>
      <p:ext uri="{BB962C8B-B14F-4D97-AF65-F5344CB8AC3E}">
        <p14:creationId xmlns:p14="http://schemas.microsoft.com/office/powerpoint/2010/main" val="940171389"/>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docProps/app.xml><?xml version="1.0" encoding="utf-8"?>
<Properties xmlns="http://schemas.openxmlformats.org/officeDocument/2006/extended-properties" xmlns:vt="http://schemas.openxmlformats.org/officeDocument/2006/docPropsVTypes">
  <TotalTime>0</TotalTime>
  <Words>1425</Words>
  <Application>Microsoft Office PowerPoint</Application>
  <PresentationFormat>Widescreen</PresentationFormat>
  <Paragraphs>128</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Consolas</vt:lpstr>
      <vt:lpstr>Courier New</vt:lpstr>
      <vt:lpstr>Univers Condensed Light</vt:lpstr>
      <vt:lpstr>Walbaum Display Light</vt:lpstr>
      <vt:lpstr>AngleLinesVTI</vt:lpstr>
      <vt:lpstr>Examining GA4 dataset in BigQuery and Python</vt:lpstr>
      <vt:lpstr>Checking for available dates</vt:lpstr>
      <vt:lpstr>Output: </vt:lpstr>
      <vt:lpstr>The Dataset</vt:lpstr>
      <vt:lpstr>Selecting the data</vt:lpstr>
      <vt:lpstr>Selecting the Data</vt:lpstr>
      <vt:lpstr>Filtering By Date</vt:lpstr>
      <vt:lpstr>Grouping the DAta </vt:lpstr>
      <vt:lpstr>Sorting the data</vt:lpstr>
      <vt:lpstr>Output</vt:lpstr>
      <vt:lpstr>Exploratory Analysis</vt:lpstr>
      <vt:lpstr>Cont’D</vt:lpstr>
      <vt:lpstr>Python Metrics Calculations</vt:lpstr>
      <vt:lpstr>Python Metrics Calculations</vt:lpstr>
      <vt:lpstr>Python Metrics Calculations</vt:lpstr>
      <vt:lpstr>Python Metrics Calculations</vt:lpstr>
      <vt:lpstr>Python Metrics Calculations</vt:lpstr>
      <vt:lpstr>Python Metrics Calculations</vt:lpstr>
      <vt:lpstr>Python Metrics Calculations</vt:lpstr>
      <vt:lpstr>Python Metrics Calculations</vt:lpstr>
      <vt:lpstr>Python Metrics Calculations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Cameron Webb</dc:creator>
  <cp:lastModifiedBy>Cameron Webb</cp:lastModifiedBy>
  <cp:revision>1</cp:revision>
  <dcterms:created xsi:type="dcterms:W3CDTF">2025-09-15T17:38:45Z</dcterms:created>
  <dcterms:modified xsi:type="dcterms:W3CDTF">2026-01-15T00:11:16Z</dcterms:modified>
</cp:coreProperties>
</file>