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9" r:id="rId3"/>
    <p:sldId id="260" r:id="rId4"/>
    <p:sldId id="262" r:id="rId5"/>
    <p:sldId id="266" r:id="rId6"/>
    <p:sldId id="267" r:id="rId7"/>
    <p:sldId id="268" r:id="rId8"/>
    <p:sldId id="257" r:id="rId9"/>
    <p:sldId id="265" r:id="rId10"/>
    <p:sldId id="271" r:id="rId11"/>
    <p:sldId id="270" r:id="rId12"/>
    <p:sldId id="272" r:id="rId13"/>
    <p:sldId id="269" r:id="rId14"/>
    <p:sldId id="263" r:id="rId15"/>
    <p:sldId id="264" r:id="rId16"/>
    <p:sldId id="274"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Webb" userId="b1c6c1d8acb894f0" providerId="LiveId" clId="{DCC85F16-04B2-4D7A-B8DB-1764800A8F8F}"/>
    <pc:docChg chg="modSld">
      <pc:chgData name="Cameron Webb" userId="b1c6c1d8acb894f0" providerId="LiveId" clId="{DCC85F16-04B2-4D7A-B8DB-1764800A8F8F}" dt="2026-01-15T00:12:34.441" v="0" actId="20577"/>
      <pc:docMkLst>
        <pc:docMk/>
      </pc:docMkLst>
      <pc:sldChg chg="modSp mod">
        <pc:chgData name="Cameron Webb" userId="b1c6c1d8acb894f0" providerId="LiveId" clId="{DCC85F16-04B2-4D7A-B8DB-1764800A8F8F}" dt="2026-01-15T00:12:34.441" v="0" actId="20577"/>
        <pc:sldMkLst>
          <pc:docMk/>
          <pc:sldMk cId="2236547271" sldId="256"/>
        </pc:sldMkLst>
        <pc:spChg chg="mod">
          <ac:chgData name="Cameron Webb" userId="b1c6c1d8acb894f0" providerId="LiveId" clId="{DCC85F16-04B2-4D7A-B8DB-1764800A8F8F}" dt="2026-01-15T00:12:34.441" v="0" actId="20577"/>
          <ac:spMkLst>
            <pc:docMk/>
            <pc:sldMk cId="2236547271" sldId="256"/>
            <ac:spMk id="3" creationId="{F556CDFC-157E-CE0B-A860-F856EE632AF5}"/>
          </ac:spMkLst>
        </pc:spChg>
      </pc:sldChg>
    </pc:docChg>
  </pc:docChgLst>
  <pc:docChgLst>
    <pc:chgData name="Guest User" providerId="Windows Live" clId="Web-{8EFC2E61-CA0C-4038-9FA8-1BB2575FD4B6}"/>
    <pc:docChg chg="modSld">
      <pc:chgData name="Guest User" userId="" providerId="Windows Live" clId="Web-{8EFC2E61-CA0C-4038-9FA8-1BB2575FD4B6}" dt="2025-12-09T17:34:09.306" v="163"/>
      <pc:docMkLst>
        <pc:docMk/>
      </pc:docMkLst>
      <pc:sldChg chg="addSp delSp modSp">
        <pc:chgData name="Guest User" userId="" providerId="Windows Live" clId="Web-{8EFC2E61-CA0C-4038-9FA8-1BB2575FD4B6}" dt="2025-12-09T17:34:09.306" v="163"/>
        <pc:sldMkLst>
          <pc:docMk/>
          <pc:sldMk cId="1277842003" sldId="270"/>
        </pc:sldMkLst>
        <pc:spChg chg="mod">
          <ac:chgData name="Guest User" userId="" providerId="Windows Live" clId="Web-{8EFC2E61-CA0C-4038-9FA8-1BB2575FD4B6}" dt="2025-12-09T17:13:40.835" v="151" actId="1076"/>
          <ac:spMkLst>
            <pc:docMk/>
            <pc:sldMk cId="1277842003" sldId="270"/>
            <ac:spMk id="2" creationId="{52AB72A3-8568-81DF-3213-0235849962B3}"/>
          </ac:spMkLst>
        </pc:spChg>
        <pc:spChg chg="add mod">
          <ac:chgData name="Guest User" userId="" providerId="Windows Live" clId="Web-{8EFC2E61-CA0C-4038-9FA8-1BB2575FD4B6}" dt="2025-12-09T17:13:47.944" v="152" actId="1076"/>
          <ac:spMkLst>
            <pc:docMk/>
            <pc:sldMk cId="1277842003" sldId="270"/>
            <ac:spMk id="6" creationId="{E23A7A5F-C987-E45F-9441-CCA7A8F431F0}"/>
          </ac:spMkLst>
        </pc:spChg>
        <pc:spChg chg="add del mod">
          <ac:chgData name="Guest User" userId="" providerId="Windows Live" clId="Web-{8EFC2E61-CA0C-4038-9FA8-1BB2575FD4B6}" dt="2025-12-09T17:34:09.306" v="163"/>
          <ac:spMkLst>
            <pc:docMk/>
            <pc:sldMk cId="1277842003" sldId="270"/>
            <ac:spMk id="7" creationId="{208F3BEF-3792-B923-789B-F3431FCBD1C4}"/>
          </ac:spMkLst>
        </pc:spChg>
      </pc:sldChg>
      <pc:sldChg chg="modSp">
        <pc:chgData name="Guest User" userId="" providerId="Windows Live" clId="Web-{8EFC2E61-CA0C-4038-9FA8-1BB2575FD4B6}" dt="2025-12-09T17:15:42.441" v="160" actId="1076"/>
        <pc:sldMkLst>
          <pc:docMk/>
          <pc:sldMk cId="704992358" sldId="271"/>
        </pc:sldMkLst>
        <pc:spChg chg="mod">
          <ac:chgData name="Guest User" userId="" providerId="Windows Live" clId="Web-{8EFC2E61-CA0C-4038-9FA8-1BB2575FD4B6}" dt="2025-12-09T17:15:22.973" v="155" actId="1076"/>
          <ac:spMkLst>
            <pc:docMk/>
            <pc:sldMk cId="704992358" sldId="271"/>
            <ac:spMk id="2" creationId="{A4740A22-C76F-7111-7DF0-322F364E9FED}"/>
          </ac:spMkLst>
        </pc:spChg>
        <pc:spChg chg="mod">
          <ac:chgData name="Guest User" userId="" providerId="Windows Live" clId="Web-{8EFC2E61-CA0C-4038-9FA8-1BB2575FD4B6}" dt="2025-12-09T17:15:42.441" v="160" actId="1076"/>
          <ac:spMkLst>
            <pc:docMk/>
            <pc:sldMk cId="704992358" sldId="271"/>
            <ac:spMk id="9" creationId="{AD922A44-F251-09C9-4ED2-BA1E319F7D74}"/>
          </ac:spMkLst>
        </pc:spChg>
        <pc:picChg chg="mod">
          <ac:chgData name="Guest User" userId="" providerId="Windows Live" clId="Web-{8EFC2E61-CA0C-4038-9FA8-1BB2575FD4B6}" dt="2025-12-09T17:15:36.410" v="159" actId="14100"/>
          <ac:picMkLst>
            <pc:docMk/>
            <pc:sldMk cId="704992358" sldId="271"/>
            <ac:picMk id="5" creationId="{56D5ABFA-44B0-F6CE-A762-06C9568E61F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1017695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87460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3618066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CDCA83-A686-49CC-8EA8-32B38849E788}" type="datetimeFigureOut">
              <a:rPr lang="en-CA" smtClean="0"/>
              <a:t>2026-01-14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4213205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CDCA83-A686-49CC-8EA8-32B38849E788}" type="datetimeFigureOut">
              <a:rPr lang="en-CA" smtClean="0"/>
              <a:t>2026-01-14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721654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CDCA83-A686-49CC-8EA8-32B38849E788}" type="datetimeFigureOut">
              <a:rPr lang="en-CA" smtClean="0"/>
              <a:t>2026-01-14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38160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CDCA83-A686-49CC-8EA8-32B38849E788}" type="datetimeFigureOut">
              <a:rPr lang="en-CA" smtClean="0"/>
              <a:t>2026-01-14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325432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CDCA83-A686-49CC-8EA8-32B38849E788}" type="datetimeFigureOut">
              <a:rPr lang="en-CA" smtClean="0"/>
              <a:t>2026-01-14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278401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CDCA83-A686-49CC-8EA8-32B38849E788}" type="datetimeFigureOut">
              <a:rPr lang="en-CA" smtClean="0"/>
              <a:t>2026-01-14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3000404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1422657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78837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321155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10612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2742892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2670818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DCA83-A686-49CC-8EA8-32B38849E788}" type="datetimeFigureOut">
              <a:rPr lang="en-CA" smtClean="0"/>
              <a:t>2026-01-14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FEB6DE8-8E25-48E1-A6B4-42279C421F42}" type="slidenum">
              <a:rPr lang="en-CA" smtClean="0"/>
              <a:t>‹#›</a:t>
            </a:fld>
            <a:endParaRPr lang="en-CA"/>
          </a:p>
        </p:txBody>
      </p:sp>
    </p:spTree>
    <p:extLst>
      <p:ext uri="{BB962C8B-B14F-4D97-AF65-F5344CB8AC3E}">
        <p14:creationId xmlns:p14="http://schemas.microsoft.com/office/powerpoint/2010/main" val="158557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CDCA83-A686-49CC-8EA8-32B38849E788}" type="datetimeFigureOut">
              <a:rPr lang="en-CA" smtClean="0"/>
              <a:t>2026-01-14</a:t>
            </a:fld>
            <a:endParaRPr lang="en-C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FEB6DE8-8E25-48E1-A6B4-42279C421F42}" type="slidenum">
              <a:rPr lang="en-CA" smtClean="0"/>
              <a:t>‹#›</a:t>
            </a:fld>
            <a:endParaRPr lang="en-CA"/>
          </a:p>
        </p:txBody>
      </p:sp>
    </p:spTree>
    <p:extLst>
      <p:ext uri="{BB962C8B-B14F-4D97-AF65-F5344CB8AC3E}">
        <p14:creationId xmlns:p14="http://schemas.microsoft.com/office/powerpoint/2010/main" val="3116203750"/>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co.wikipedia.org/wiki/File:Starbucks_Corporation_Logo_2011.sv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0E38-465A-4A93-9629-A492FF804A3C}"/>
              </a:ext>
            </a:extLst>
          </p:cNvPr>
          <p:cNvSpPr>
            <a:spLocks noGrp="1"/>
          </p:cNvSpPr>
          <p:nvPr>
            <p:ph type="ctrTitle"/>
          </p:nvPr>
        </p:nvSpPr>
        <p:spPr>
          <a:xfrm>
            <a:off x="4974337" y="1265314"/>
            <a:ext cx="4299666" cy="3249131"/>
          </a:xfrm>
        </p:spPr>
        <p:txBody>
          <a:bodyPr>
            <a:normAutofit/>
          </a:bodyPr>
          <a:lstStyle/>
          <a:p>
            <a:pPr algn="l">
              <a:lnSpc>
                <a:spcPct val="90000"/>
              </a:lnSpc>
            </a:pPr>
            <a:r>
              <a:rPr lang="en-CA"/>
              <a:t>Voice of Customer Dashboard: Starbucks</a:t>
            </a:r>
            <a:endParaRPr lang="en-CA" dirty="0"/>
          </a:p>
        </p:txBody>
      </p:sp>
      <p:sp>
        <p:nvSpPr>
          <p:cNvPr id="3" name="Subtitle 2">
            <a:extLst>
              <a:ext uri="{FF2B5EF4-FFF2-40B4-BE49-F238E27FC236}">
                <a16:creationId xmlns:a16="http://schemas.microsoft.com/office/drawing/2014/main" id="{F556CDFC-157E-CE0B-A860-F856EE632AF5}"/>
              </a:ext>
            </a:extLst>
          </p:cNvPr>
          <p:cNvSpPr>
            <a:spLocks noGrp="1"/>
          </p:cNvSpPr>
          <p:nvPr>
            <p:ph type="subTitle" idx="1"/>
          </p:nvPr>
        </p:nvSpPr>
        <p:spPr>
          <a:xfrm>
            <a:off x="4974336" y="4514446"/>
            <a:ext cx="4299666" cy="871042"/>
          </a:xfrm>
        </p:spPr>
        <p:txBody>
          <a:bodyPr>
            <a:normAutofit/>
          </a:bodyPr>
          <a:lstStyle/>
          <a:p>
            <a:pPr algn="l"/>
            <a:r>
              <a:rPr lang="en-CA" dirty="0"/>
              <a:t>Cameron Webb</a:t>
            </a:r>
          </a:p>
          <a:p>
            <a:pPr algn="l"/>
            <a:endParaRPr lang="en-CA" dirty="0"/>
          </a:p>
        </p:txBody>
      </p:sp>
      <p:sp>
        <p:nvSpPr>
          <p:cNvPr id="23" name="Isosceles Triangle 22">
            <a:extLst>
              <a:ext uri="{FF2B5EF4-FFF2-40B4-BE49-F238E27FC236}">
                <a16:creationId xmlns:a16="http://schemas.microsoft.com/office/drawing/2014/main" id="{03D271DD-C9EA-4985-BA0C-037A88FA3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9" name="Picture 8" descr="A logo of a person with long hair&#10;&#10;AI-generated content may be incorrect.">
            <a:extLst>
              <a:ext uri="{FF2B5EF4-FFF2-40B4-BE49-F238E27FC236}">
                <a16:creationId xmlns:a16="http://schemas.microsoft.com/office/drawing/2014/main" id="{A121C40D-40F4-3BF5-98D2-8EC803DCC0D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8604" y="1540677"/>
            <a:ext cx="3765692" cy="3784615"/>
          </a:xfrm>
          <a:prstGeom prst="rect">
            <a:avLst/>
          </a:prstGeom>
        </p:spPr>
      </p:pic>
    </p:spTree>
    <p:extLst>
      <p:ext uri="{BB962C8B-B14F-4D97-AF65-F5344CB8AC3E}">
        <p14:creationId xmlns:p14="http://schemas.microsoft.com/office/powerpoint/2010/main" val="2236547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descr="The Starbucks Drinks Menu Is Getting Smaller: Here's What's Disappearing |  Glamour">
            <a:extLst>
              <a:ext uri="{FF2B5EF4-FFF2-40B4-BE49-F238E27FC236}">
                <a16:creationId xmlns:a16="http://schemas.microsoft.com/office/drawing/2014/main" id="{D87A4440-45F7-94D8-8ACB-0174EE7EBC12}"/>
              </a:ext>
            </a:extLst>
          </p:cNvPr>
          <p:cNvPicPr>
            <a:picLocks noChangeAspect="1"/>
          </p:cNvPicPr>
          <p:nvPr/>
        </p:nvPicPr>
        <p:blipFill>
          <a:blip r:embed="rId2"/>
          <a:srcRect l="23045" r="10822" b="1"/>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CA6B0AE4-0296-03D6-EE25-1CC38A3769FC}"/>
              </a:ext>
            </a:extLst>
          </p:cNvPr>
          <p:cNvSpPr>
            <a:spLocks noGrp="1"/>
          </p:cNvSpPr>
          <p:nvPr>
            <p:ph type="title"/>
          </p:nvPr>
        </p:nvSpPr>
        <p:spPr>
          <a:xfrm>
            <a:off x="677333" y="609600"/>
            <a:ext cx="3851123" cy="1320800"/>
          </a:xfrm>
        </p:spPr>
        <p:txBody>
          <a:bodyPr>
            <a:normAutofit/>
          </a:bodyPr>
          <a:lstStyle/>
          <a:p>
            <a:r>
              <a:rPr lang="en-US" dirty="0"/>
              <a:t>Brand Background</a:t>
            </a:r>
          </a:p>
        </p:txBody>
      </p:sp>
      <p:sp>
        <p:nvSpPr>
          <p:cNvPr id="8" name="Content Placeholder 7">
            <a:extLst>
              <a:ext uri="{FF2B5EF4-FFF2-40B4-BE49-F238E27FC236}">
                <a16:creationId xmlns:a16="http://schemas.microsoft.com/office/drawing/2014/main" id="{0C3098A0-76D9-95E2-A94B-5BCEDFDF3D3C}"/>
              </a:ext>
            </a:extLst>
          </p:cNvPr>
          <p:cNvSpPr>
            <a:spLocks noGrp="1"/>
          </p:cNvSpPr>
          <p:nvPr>
            <p:ph idx="1"/>
          </p:nvPr>
        </p:nvSpPr>
        <p:spPr>
          <a:xfrm>
            <a:off x="677334" y="2160589"/>
            <a:ext cx="3851122" cy="3880773"/>
          </a:xfrm>
        </p:spPr>
        <p:txBody>
          <a:bodyPr vert="horz" lIns="91440" tIns="45720" rIns="91440" bIns="45720" rtlCol="0" anchor="t">
            <a:noAutofit/>
          </a:bodyPr>
          <a:lstStyle/>
          <a:p>
            <a:r>
              <a:rPr lang="en-US" sz="2000" dirty="0"/>
              <a:t>Founded March 30th 1971 at Seattle's Pike Place Market.</a:t>
            </a:r>
          </a:p>
          <a:p>
            <a:r>
              <a:rPr lang="en-US" sz="2000" dirty="0"/>
              <a:t>World's largest coffeehouse chain.</a:t>
            </a:r>
          </a:p>
          <a:p>
            <a:r>
              <a:rPr lang="en-US" sz="2000" dirty="0"/>
              <a:t>Approximately </a:t>
            </a:r>
            <a:r>
              <a:rPr lang="en-US" sz="2000" dirty="0">
                <a:ea typeface="+mn-lt"/>
                <a:cs typeface="+mn-lt"/>
              </a:rPr>
              <a:t>16,834 stores in North America.</a:t>
            </a:r>
          </a:p>
          <a:p>
            <a:r>
              <a:rPr lang="en-US" sz="2000" dirty="0">
                <a:ea typeface="+mn-lt"/>
                <a:cs typeface="+mn-lt"/>
              </a:rPr>
              <a:t>They stand by their mission statement of "one person, one cup and one neighborhood at a time."</a:t>
            </a:r>
          </a:p>
          <a:p>
            <a:endParaRPr lang="en-US" sz="2000" dirty="0">
              <a:ea typeface="+mn-lt"/>
              <a:cs typeface="+mn-lt"/>
            </a:endParaRPr>
          </a:p>
          <a:p>
            <a:endParaRPr lang="en-US" sz="2000" dirty="0">
              <a:ea typeface="+mn-lt"/>
              <a:cs typeface="+mn-lt"/>
            </a:endParaRPr>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65121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DFFA-466E-B618-8ECC-8E51A7878042}"/>
              </a:ext>
            </a:extLst>
          </p:cNvPr>
          <p:cNvSpPr>
            <a:spLocks noGrp="1"/>
          </p:cNvSpPr>
          <p:nvPr>
            <p:ph type="title"/>
          </p:nvPr>
        </p:nvSpPr>
        <p:spPr/>
        <p:txBody>
          <a:bodyPr/>
          <a:lstStyle/>
          <a:p>
            <a:r>
              <a:rPr lang="en-US" dirty="0"/>
              <a:t>Objective of the VOC</a:t>
            </a:r>
          </a:p>
        </p:txBody>
      </p:sp>
      <p:sp>
        <p:nvSpPr>
          <p:cNvPr id="3" name="Content Placeholder 2">
            <a:extLst>
              <a:ext uri="{FF2B5EF4-FFF2-40B4-BE49-F238E27FC236}">
                <a16:creationId xmlns:a16="http://schemas.microsoft.com/office/drawing/2014/main" id="{D1C2DA51-9B53-9486-4859-02541ED5B9EC}"/>
              </a:ext>
            </a:extLst>
          </p:cNvPr>
          <p:cNvSpPr>
            <a:spLocks noGrp="1"/>
          </p:cNvSpPr>
          <p:nvPr>
            <p:ph idx="1"/>
          </p:nvPr>
        </p:nvSpPr>
        <p:spPr/>
        <p:txBody>
          <a:bodyPr vert="horz" lIns="91440" tIns="45720" rIns="91440" bIns="45720" rtlCol="0" anchor="t">
            <a:normAutofit/>
          </a:bodyPr>
          <a:lstStyle/>
          <a:p>
            <a:r>
              <a:rPr lang="en-US" sz="2000" dirty="0"/>
              <a:t>How users feel about Starbucks looking at Google Play, Google Maps, and Reddit reviews and ratings.</a:t>
            </a:r>
          </a:p>
          <a:p>
            <a:r>
              <a:rPr lang="en-US" sz="2000" dirty="0"/>
              <a:t>Wanting to understand customer needs better with the intent to improve positive experiences alongside reducing negative experiences</a:t>
            </a:r>
          </a:p>
          <a:p>
            <a:r>
              <a:rPr lang="en-US" sz="2000" dirty="0"/>
              <a:t>Distinguish between the two experiences of being instore and the digital experience</a:t>
            </a:r>
          </a:p>
          <a:p>
            <a:r>
              <a:rPr lang="en-US" sz="2000" dirty="0"/>
              <a:t>Obtaining strategic insights </a:t>
            </a:r>
          </a:p>
          <a:p>
            <a:endParaRPr lang="en-US" sz="2000" dirty="0"/>
          </a:p>
        </p:txBody>
      </p:sp>
    </p:spTree>
    <p:extLst>
      <p:ext uri="{BB962C8B-B14F-4D97-AF65-F5344CB8AC3E}">
        <p14:creationId xmlns:p14="http://schemas.microsoft.com/office/powerpoint/2010/main" val="3130831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3DE1E5F4-6F74-7B27-C5F4-4C7C0A637FDF}"/>
              </a:ext>
            </a:extLst>
          </p:cNvPr>
          <p:cNvSpPr>
            <a:spLocks noGrp="1"/>
          </p:cNvSpPr>
          <p:nvPr>
            <p:ph type="title"/>
          </p:nvPr>
        </p:nvSpPr>
        <p:spPr>
          <a:xfrm>
            <a:off x="673754" y="643467"/>
            <a:ext cx="4203045" cy="1375608"/>
          </a:xfrm>
        </p:spPr>
        <p:txBody>
          <a:bodyPr anchor="ctr">
            <a:normAutofit/>
          </a:bodyPr>
          <a:lstStyle/>
          <a:p>
            <a:r>
              <a:rPr lang="en-US">
                <a:solidFill>
                  <a:schemeClr val="bg1"/>
                </a:solidFill>
                <a:ea typeface="+mj-lt"/>
                <a:cs typeface="+mj-lt"/>
              </a:rPr>
              <a:t>Data Sources Breakdown</a:t>
            </a:r>
          </a:p>
        </p:txBody>
      </p:sp>
      <p:sp>
        <p:nvSpPr>
          <p:cNvPr id="3" name="Content Placeholder 2">
            <a:extLst>
              <a:ext uri="{FF2B5EF4-FFF2-40B4-BE49-F238E27FC236}">
                <a16:creationId xmlns:a16="http://schemas.microsoft.com/office/drawing/2014/main" id="{E7168FDF-A3B8-546B-2957-8B55FD4878E8}"/>
              </a:ext>
            </a:extLst>
          </p:cNvPr>
          <p:cNvSpPr>
            <a:spLocks noGrp="1"/>
          </p:cNvSpPr>
          <p:nvPr>
            <p:ph idx="1"/>
          </p:nvPr>
        </p:nvSpPr>
        <p:spPr>
          <a:xfrm>
            <a:off x="673754" y="2160590"/>
            <a:ext cx="3973943" cy="3440110"/>
          </a:xfrm>
        </p:spPr>
        <p:txBody>
          <a:bodyPr vert="horz" lIns="91440" tIns="45720" rIns="91440" bIns="45720" rtlCol="0">
            <a:normAutofit/>
          </a:bodyPr>
          <a:lstStyle/>
          <a:p>
            <a:r>
              <a:rPr lang="en-US" dirty="0">
                <a:solidFill>
                  <a:schemeClr val="bg1"/>
                </a:solidFill>
              </a:rPr>
              <a:t>The sources used were Reddit, Google Play, and Google Maps</a:t>
            </a:r>
          </a:p>
          <a:p>
            <a:r>
              <a:rPr lang="en-US" dirty="0">
                <a:solidFill>
                  <a:schemeClr val="bg1"/>
                </a:solidFill>
              </a:rPr>
              <a:t>Google Play Store – Starbucks App Reviews</a:t>
            </a:r>
          </a:p>
          <a:p>
            <a:r>
              <a:rPr lang="en-US" dirty="0">
                <a:solidFill>
                  <a:schemeClr val="bg1"/>
                </a:solidFill>
              </a:rPr>
              <a:t>Google Maps – In-store Reviews</a:t>
            </a:r>
          </a:p>
          <a:p>
            <a:r>
              <a:rPr lang="en-US" dirty="0">
                <a:solidFill>
                  <a:schemeClr val="bg1"/>
                </a:solidFill>
              </a:rPr>
              <a:t>Reddit – Community discussion &amp; public sentiment</a:t>
            </a:r>
          </a:p>
        </p:txBody>
      </p:sp>
      <p:pic>
        <p:nvPicPr>
          <p:cNvPr id="5" name="Picture 4" descr="A group of logos on a black and white background&#10;&#10;AI-generated content may be incorrect.">
            <a:extLst>
              <a:ext uri="{FF2B5EF4-FFF2-40B4-BE49-F238E27FC236}">
                <a16:creationId xmlns:a16="http://schemas.microsoft.com/office/drawing/2014/main" id="{9AAD6E2B-58E2-8F38-4A76-31CC86B9FFBD}"/>
              </a:ext>
            </a:extLst>
          </p:cNvPr>
          <p:cNvPicPr>
            <a:picLocks noChangeAspect="1"/>
          </p:cNvPicPr>
          <p:nvPr/>
        </p:nvPicPr>
        <p:blipFill>
          <a:blip r:embed="rId2"/>
          <a:stretch>
            <a:fillRect/>
          </a:stretch>
        </p:blipFill>
        <p:spPr>
          <a:xfrm>
            <a:off x="6096001" y="1140314"/>
            <a:ext cx="5143500" cy="4564856"/>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18233500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B834-5964-EECB-60C1-068C62A1F347}"/>
              </a:ext>
            </a:extLst>
          </p:cNvPr>
          <p:cNvSpPr>
            <a:spLocks noGrp="1"/>
          </p:cNvSpPr>
          <p:nvPr>
            <p:ph type="title"/>
          </p:nvPr>
        </p:nvSpPr>
        <p:spPr>
          <a:xfrm>
            <a:off x="677334" y="609600"/>
            <a:ext cx="8596668" cy="1320800"/>
          </a:xfrm>
        </p:spPr>
        <p:txBody>
          <a:bodyPr anchor="t">
            <a:normAutofit/>
          </a:bodyPr>
          <a:lstStyle/>
          <a:p>
            <a:r>
              <a:rPr lang="en-CA" sz="4000" dirty="0"/>
              <a:t>Google Play</a:t>
            </a:r>
          </a:p>
        </p:txBody>
      </p:sp>
      <p:pic>
        <p:nvPicPr>
          <p:cNvPr id="7" name="Picture 6" descr="A screenshot of a computer&#10;&#10;AI-generated content may be incorrect.">
            <a:extLst>
              <a:ext uri="{FF2B5EF4-FFF2-40B4-BE49-F238E27FC236}">
                <a16:creationId xmlns:a16="http://schemas.microsoft.com/office/drawing/2014/main" id="{4E01998B-1D3E-F663-CCBB-5698985E527C}"/>
              </a:ext>
            </a:extLst>
          </p:cNvPr>
          <p:cNvPicPr>
            <a:picLocks noChangeAspect="1"/>
          </p:cNvPicPr>
          <p:nvPr/>
        </p:nvPicPr>
        <p:blipFill>
          <a:blip r:embed="rId2"/>
          <a:stretch>
            <a:fillRect/>
          </a:stretch>
        </p:blipFill>
        <p:spPr>
          <a:xfrm>
            <a:off x="883368" y="4771505"/>
            <a:ext cx="9322985" cy="1748729"/>
          </a:xfrm>
          <a:prstGeom prst="rect">
            <a:avLst/>
          </a:prstGeom>
        </p:spPr>
      </p:pic>
      <p:sp>
        <p:nvSpPr>
          <p:cNvPr id="4" name="Rectangle 1">
            <a:extLst>
              <a:ext uri="{FF2B5EF4-FFF2-40B4-BE49-F238E27FC236}">
                <a16:creationId xmlns:a16="http://schemas.microsoft.com/office/drawing/2014/main" id="{9CFFEC8F-26E1-BDAA-1696-4AED2DAAF843}"/>
              </a:ext>
            </a:extLst>
          </p:cNvPr>
          <p:cNvSpPr>
            <a:spLocks noGrp="1" noChangeArrowheads="1"/>
          </p:cNvSpPr>
          <p:nvPr>
            <p:ph idx="1"/>
          </p:nvPr>
        </p:nvSpPr>
        <p:spPr bwMode="auto">
          <a:xfrm>
            <a:off x="1985647" y="1930400"/>
            <a:ext cx="7037538" cy="247534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Used Python library: google-play-scraper</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Provided public access no API keys required</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Collected, Star ratings,</a:t>
            </a:r>
            <a:r>
              <a:rPr kumimoji="0" lang="en-US" altLang="en-US" sz="2000" b="0" i="0" u="none" strike="noStrike" cap="none" normalizeH="0" baseline="0" dirty="0">
                <a:ln>
                  <a:noFill/>
                </a:ln>
                <a:effectLst/>
                <a:latin typeface="Arial" panose="020B0604020202020204" pitchFamily="34" charset="0"/>
              </a:rPr>
              <a:t> </a:t>
            </a:r>
            <a:r>
              <a:rPr kumimoji="0" lang="en-US" altLang="en-US" b="0" i="0" u="none" strike="noStrike" cap="none" normalizeH="0" baseline="0" dirty="0">
                <a:ln>
                  <a:noFill/>
                </a:ln>
                <a:effectLst/>
                <a:latin typeface="Arial" panose="020B0604020202020204" pitchFamily="34" charset="0"/>
              </a:rPr>
              <a:t>Review </a:t>
            </a:r>
            <a:r>
              <a:rPr kumimoji="0" lang="en-US" altLang="en-US" b="0" i="0" u="none" strike="noStrike" cap="none" normalizeH="0" baseline="0" dirty="0" err="1">
                <a:ln>
                  <a:noFill/>
                </a:ln>
                <a:effectLst/>
                <a:latin typeface="Arial" panose="020B0604020202020204" pitchFamily="34" charset="0"/>
              </a:rPr>
              <a:t>tex</a:t>
            </a:r>
            <a:r>
              <a:rPr kumimoji="0" lang="en-US" altLang="en-US" b="0" i="0" u="none" strike="noStrike" cap="none" normalizeH="0" baseline="0" dirty="0">
                <a:ln>
                  <a:noFill/>
                </a:ln>
                <a:effectLst/>
                <a:latin typeface="Arial" panose="020B0604020202020204" pitchFamily="34" charset="0"/>
              </a:rPr>
              <a:t>, Timestamp</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Cleaned data: removed emojis, HTML entities, duplicate reviews</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Exported to CSV for sentiment analysis</a:t>
            </a:r>
          </a:p>
        </p:txBody>
      </p:sp>
    </p:spTree>
    <p:extLst>
      <p:ext uri="{BB962C8B-B14F-4D97-AF65-F5344CB8AC3E}">
        <p14:creationId xmlns:p14="http://schemas.microsoft.com/office/powerpoint/2010/main" val="4178920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0EF6-E4B9-41E1-0DDC-E93CA0AF7FFE}"/>
              </a:ext>
            </a:extLst>
          </p:cNvPr>
          <p:cNvSpPr>
            <a:spLocks noGrp="1"/>
          </p:cNvSpPr>
          <p:nvPr>
            <p:ph type="title"/>
          </p:nvPr>
        </p:nvSpPr>
        <p:spPr>
          <a:xfrm>
            <a:off x="676746" y="609600"/>
            <a:ext cx="3729076" cy="1320800"/>
          </a:xfrm>
        </p:spPr>
        <p:txBody>
          <a:bodyPr anchor="ctr">
            <a:normAutofit/>
          </a:bodyPr>
          <a:lstStyle/>
          <a:p>
            <a:r>
              <a:rPr lang="en-CA"/>
              <a:t>Google Places (Google Maps)</a:t>
            </a:r>
            <a:endParaRPr lang="en-CA" dirty="0"/>
          </a:p>
        </p:txBody>
      </p:sp>
      <p:sp>
        <p:nvSpPr>
          <p:cNvPr id="5" name="Rectangle 2">
            <a:extLst>
              <a:ext uri="{FF2B5EF4-FFF2-40B4-BE49-F238E27FC236}">
                <a16:creationId xmlns:a16="http://schemas.microsoft.com/office/drawing/2014/main" id="{8A6925DE-3708-A475-7ED7-059E4CBCD8F9}"/>
              </a:ext>
            </a:extLst>
          </p:cNvPr>
          <p:cNvSpPr>
            <a:spLocks noGrp="1" noChangeArrowheads="1"/>
          </p:cNvSpPr>
          <p:nvPr>
            <p:ph idx="1"/>
          </p:nvPr>
        </p:nvSpPr>
        <p:spPr bwMode="auto">
          <a:xfrm>
            <a:off x="685166" y="2160589"/>
            <a:ext cx="9190353" cy="35607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defTabSz="914400" eaLnBrk="0" fontAlgn="base" hangingPunct="0">
              <a:lnSpc>
                <a:spcPct val="90000"/>
              </a:lnSpc>
              <a:spcBef>
                <a:spcPct val="0"/>
              </a:spcBef>
              <a:spcAft>
                <a:spcPts val="600"/>
              </a:spcAft>
              <a:buClrTx/>
              <a:buSzTx/>
              <a:buFontTx/>
              <a:buChar char="•"/>
            </a:pPr>
            <a:r>
              <a:rPr lang="en-US" altLang="en-US" dirty="0">
                <a:latin typeface="Arial" panose="020B0604020202020204" pitchFamily="34" charset="0"/>
              </a:rPr>
              <a:t>Used </a:t>
            </a:r>
            <a:r>
              <a:rPr lang="en-US" altLang="en-US" i="1" dirty="0">
                <a:latin typeface="Arial" panose="020B0604020202020204" pitchFamily="34" charset="0"/>
              </a:rPr>
              <a:t>requests</a:t>
            </a:r>
            <a:r>
              <a:rPr lang="en-US" altLang="en-US" dirty="0">
                <a:latin typeface="Arial" panose="020B0604020202020204" pitchFamily="34" charset="0"/>
              </a:rPr>
              <a:t> and </a:t>
            </a:r>
            <a:r>
              <a:rPr lang="en-US" altLang="en-US" i="1" dirty="0" err="1">
                <a:latin typeface="Arial" panose="020B0604020202020204" pitchFamily="34" charset="0"/>
              </a:rPr>
              <a:t>BeautifulSoup</a:t>
            </a:r>
            <a:r>
              <a:rPr lang="en-US" altLang="en-US" dirty="0">
                <a:latin typeface="Arial" panose="020B0604020202020204" pitchFamily="34" charset="0"/>
              </a:rPr>
              <a:t> to parse HTML from multiple Starbucks locations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Extracted publicly visible reviews from Google Maps business listings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Data fields collected:</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Rating</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Review text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Date</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0" i="0" u="none" strike="noStrike" cap="none" normalizeH="0" baseline="0" dirty="0">
                <a:ln>
                  <a:noFill/>
                </a:ln>
                <a:effectLst/>
                <a:latin typeface="Arial" panose="020B0604020202020204" pitchFamily="34" charset="0"/>
              </a:rPr>
              <a:t>Location</a:t>
            </a:r>
          </a:p>
        </p:txBody>
      </p:sp>
      <p:pic>
        <p:nvPicPr>
          <p:cNvPr id="7" name="Picture 6" descr="A screenshot of a computer&#10;&#10;AI-generated content may be incorrect.">
            <a:extLst>
              <a:ext uri="{FF2B5EF4-FFF2-40B4-BE49-F238E27FC236}">
                <a16:creationId xmlns:a16="http://schemas.microsoft.com/office/drawing/2014/main" id="{6BC67577-AD74-EB83-4601-DB130BF1A83A}"/>
              </a:ext>
            </a:extLst>
          </p:cNvPr>
          <p:cNvPicPr>
            <a:picLocks noChangeAspect="1"/>
          </p:cNvPicPr>
          <p:nvPr/>
        </p:nvPicPr>
        <p:blipFill>
          <a:blip r:embed="rId2"/>
          <a:stretch>
            <a:fillRect/>
          </a:stretch>
        </p:blipFill>
        <p:spPr>
          <a:xfrm>
            <a:off x="2316481" y="3887570"/>
            <a:ext cx="8907353" cy="2360830"/>
          </a:xfrm>
          <a:prstGeom prst="rect">
            <a:avLst/>
          </a:prstGeom>
        </p:spPr>
      </p:pic>
    </p:spTree>
    <p:extLst>
      <p:ext uri="{BB962C8B-B14F-4D97-AF65-F5344CB8AC3E}">
        <p14:creationId xmlns:p14="http://schemas.microsoft.com/office/powerpoint/2010/main" val="363801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21750-7EF0-BFA0-EACF-F1BED36D88B1}"/>
              </a:ext>
            </a:extLst>
          </p:cNvPr>
          <p:cNvSpPr>
            <a:spLocks noGrp="1"/>
          </p:cNvSpPr>
          <p:nvPr>
            <p:ph type="title"/>
          </p:nvPr>
        </p:nvSpPr>
        <p:spPr/>
        <p:txBody>
          <a:bodyPr/>
          <a:lstStyle/>
          <a:p>
            <a:r>
              <a:rPr lang="en-CA" dirty="0"/>
              <a:t>Reddit</a:t>
            </a:r>
          </a:p>
        </p:txBody>
      </p:sp>
      <p:sp>
        <p:nvSpPr>
          <p:cNvPr id="3" name="Content Placeholder 2">
            <a:extLst>
              <a:ext uri="{FF2B5EF4-FFF2-40B4-BE49-F238E27FC236}">
                <a16:creationId xmlns:a16="http://schemas.microsoft.com/office/drawing/2014/main" id="{A0068205-7BB7-81DE-E61C-EE467B8ADD9E}"/>
              </a:ext>
            </a:extLst>
          </p:cNvPr>
          <p:cNvSpPr>
            <a:spLocks noGrp="1"/>
          </p:cNvSpPr>
          <p:nvPr>
            <p:ph idx="1"/>
          </p:nvPr>
        </p:nvSpPr>
        <p:spPr/>
        <p:txBody>
          <a:bodyPr/>
          <a:lstStyle/>
          <a:p>
            <a:r>
              <a:rPr lang="en-CA" dirty="0"/>
              <a:t>Used PRAW, Reddit’s official API wrapper for Python</a:t>
            </a:r>
          </a:p>
          <a:p>
            <a:r>
              <a:rPr lang="en-CA" dirty="0"/>
              <a:t>Required authentication: client ID, client secret, and a Reddit account</a:t>
            </a:r>
          </a:p>
          <a:p>
            <a:r>
              <a:rPr lang="en-CA" dirty="0"/>
              <a:t>Focused on posts and comments from Starbucks-related subreddits</a:t>
            </a:r>
          </a:p>
          <a:p>
            <a:r>
              <a:rPr lang="en-CA" dirty="0"/>
              <a:t>Data fields collected:</a:t>
            </a:r>
          </a:p>
          <a:p>
            <a:r>
              <a:rPr lang="en-CA" dirty="0"/>
              <a:t>Comment text</a:t>
            </a:r>
          </a:p>
          <a:p>
            <a:r>
              <a:rPr lang="en-CA" dirty="0"/>
              <a:t>Upvote score</a:t>
            </a:r>
          </a:p>
          <a:p>
            <a:r>
              <a:rPr lang="en-CA" dirty="0"/>
              <a:t>Timestamp</a:t>
            </a:r>
          </a:p>
          <a:p>
            <a:r>
              <a:rPr lang="en-CA" dirty="0"/>
              <a:t>Parent post reference</a:t>
            </a:r>
          </a:p>
        </p:txBody>
      </p:sp>
      <p:pic>
        <p:nvPicPr>
          <p:cNvPr id="6" name="Picture 5" descr="A screenshot of a computer&#10;&#10;AI-generated content may be incorrect.">
            <a:extLst>
              <a:ext uri="{FF2B5EF4-FFF2-40B4-BE49-F238E27FC236}">
                <a16:creationId xmlns:a16="http://schemas.microsoft.com/office/drawing/2014/main" id="{95E05CF3-4C1D-037A-28AB-9B0E7D9D25B4}"/>
              </a:ext>
            </a:extLst>
          </p:cNvPr>
          <p:cNvPicPr>
            <a:picLocks noChangeAspect="1"/>
          </p:cNvPicPr>
          <p:nvPr/>
        </p:nvPicPr>
        <p:blipFill>
          <a:blip r:embed="rId2"/>
          <a:stretch>
            <a:fillRect/>
          </a:stretch>
        </p:blipFill>
        <p:spPr>
          <a:xfrm>
            <a:off x="3855497" y="4100975"/>
            <a:ext cx="7659169" cy="1914792"/>
          </a:xfrm>
          <a:prstGeom prst="rect">
            <a:avLst/>
          </a:prstGeom>
        </p:spPr>
      </p:pic>
    </p:spTree>
    <p:extLst>
      <p:ext uri="{BB962C8B-B14F-4D97-AF65-F5344CB8AC3E}">
        <p14:creationId xmlns:p14="http://schemas.microsoft.com/office/powerpoint/2010/main" val="1103838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9B3FF1-0264-6A67-9C22-F94696F26D11}"/>
              </a:ext>
            </a:extLst>
          </p:cNvPr>
          <p:cNvSpPr>
            <a:spLocks noGrp="1"/>
          </p:cNvSpPr>
          <p:nvPr>
            <p:ph idx="1"/>
          </p:nvPr>
        </p:nvSpPr>
        <p:spPr/>
        <p:txBody>
          <a:bodyPr/>
          <a:lstStyle/>
          <a:p>
            <a:endParaRPr lang="en-CA" dirty="0"/>
          </a:p>
        </p:txBody>
      </p:sp>
      <p:sp>
        <p:nvSpPr>
          <p:cNvPr id="5" name="Title 4">
            <a:extLst>
              <a:ext uri="{FF2B5EF4-FFF2-40B4-BE49-F238E27FC236}">
                <a16:creationId xmlns:a16="http://schemas.microsoft.com/office/drawing/2014/main" id="{F1B8A01F-0792-BA40-F59E-71AF8221DC7E}"/>
              </a:ext>
            </a:extLst>
          </p:cNvPr>
          <p:cNvSpPr>
            <a:spLocks noGrp="1"/>
          </p:cNvSpPr>
          <p:nvPr>
            <p:ph type="title"/>
          </p:nvPr>
        </p:nvSpPr>
        <p:spPr/>
        <p:txBody>
          <a:bodyPr/>
          <a:lstStyle/>
          <a:p>
            <a:endParaRPr lang="en-CA"/>
          </a:p>
        </p:txBody>
      </p:sp>
      <p:pic>
        <p:nvPicPr>
          <p:cNvPr id="7" name="Picture 6" descr="A close-up of a graph&#10;&#10;AI-generated content may be incorrect.">
            <a:extLst>
              <a:ext uri="{FF2B5EF4-FFF2-40B4-BE49-F238E27FC236}">
                <a16:creationId xmlns:a16="http://schemas.microsoft.com/office/drawing/2014/main" id="{06536CB8-3350-E895-8FE0-E664C7AA5E33}"/>
              </a:ext>
            </a:extLst>
          </p:cNvPr>
          <p:cNvPicPr>
            <a:picLocks noChangeAspect="1"/>
          </p:cNvPicPr>
          <p:nvPr/>
        </p:nvPicPr>
        <p:blipFill>
          <a:blip r:embed="rId2"/>
          <a:stretch>
            <a:fillRect/>
          </a:stretch>
        </p:blipFill>
        <p:spPr>
          <a:xfrm>
            <a:off x="0" y="15486"/>
            <a:ext cx="12192000" cy="6842514"/>
          </a:xfrm>
          <a:prstGeom prst="rect">
            <a:avLst/>
          </a:prstGeom>
        </p:spPr>
      </p:pic>
    </p:spTree>
    <p:extLst>
      <p:ext uri="{BB962C8B-B14F-4D97-AF65-F5344CB8AC3E}">
        <p14:creationId xmlns:p14="http://schemas.microsoft.com/office/powerpoint/2010/main" val="177588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9246-AC3D-AC61-CE7F-71CEFDED634D}"/>
              </a:ext>
            </a:extLst>
          </p:cNvPr>
          <p:cNvSpPr>
            <a:spLocks noGrp="1"/>
          </p:cNvSpPr>
          <p:nvPr>
            <p:ph type="title"/>
          </p:nvPr>
        </p:nvSpPr>
        <p:spPr>
          <a:xfrm>
            <a:off x="675065" y="609600"/>
            <a:ext cx="2930518" cy="1320800"/>
          </a:xfrm>
        </p:spPr>
        <p:txBody>
          <a:bodyPr anchor="ctr">
            <a:normAutofit/>
          </a:bodyPr>
          <a:lstStyle/>
          <a:p>
            <a:pPr>
              <a:lnSpc>
                <a:spcPct val="90000"/>
              </a:lnSpc>
            </a:pPr>
            <a:r>
              <a:rPr lang="en-US" sz="2000"/>
              <a:t>Dashboard Walkthrough (Google Play Store)</a:t>
            </a:r>
            <a:br>
              <a:rPr lang="en-US" sz="2000"/>
            </a:br>
            <a:endParaRPr lang="en-US" sz="2000"/>
          </a:p>
        </p:txBody>
      </p:sp>
      <p:sp>
        <p:nvSpPr>
          <p:cNvPr id="9" name="Content Placeholder 8">
            <a:extLst>
              <a:ext uri="{FF2B5EF4-FFF2-40B4-BE49-F238E27FC236}">
                <a16:creationId xmlns:a16="http://schemas.microsoft.com/office/drawing/2014/main" id="{B9CF2C6F-2332-2668-EA25-79FA3A03A0F9}"/>
              </a:ext>
            </a:extLst>
          </p:cNvPr>
          <p:cNvSpPr>
            <a:spLocks noGrp="1"/>
          </p:cNvSpPr>
          <p:nvPr>
            <p:ph idx="1"/>
          </p:nvPr>
        </p:nvSpPr>
        <p:spPr>
          <a:xfrm>
            <a:off x="671361" y="2160589"/>
            <a:ext cx="2930517" cy="3880773"/>
          </a:xfrm>
        </p:spPr>
        <p:txBody>
          <a:bodyPr vert="horz" lIns="91440" tIns="45720" rIns="91440" bIns="45720" rtlCol="0" anchor="t">
            <a:normAutofit fontScale="92500" lnSpcReduction="10000"/>
          </a:bodyPr>
          <a:lstStyle/>
          <a:p>
            <a:r>
              <a:rPr lang="en-US" dirty="0"/>
              <a:t>206 users have a rating of very positive. </a:t>
            </a:r>
          </a:p>
          <a:p>
            <a:r>
              <a:rPr lang="en-US" dirty="0"/>
              <a:t>Core sentiment is high with 63% positive feedback. The high negative (37%) is largely driven by the neutral responses. </a:t>
            </a:r>
          </a:p>
          <a:p>
            <a:r>
              <a:rPr lang="en-US" dirty="0">
                <a:ea typeface="+mn-lt"/>
                <a:cs typeface="+mn-lt"/>
              </a:rPr>
              <a:t>Neutral responses don't preclude a negative experience but potentially point towards a lackluster one that may prevent 5-star ratings.</a:t>
            </a:r>
            <a:endParaRPr lang="en-US" dirty="0"/>
          </a:p>
          <a:p>
            <a:endParaRPr lang="en-US" dirty="0"/>
          </a:p>
        </p:txBody>
      </p:sp>
      <p:pic>
        <p:nvPicPr>
          <p:cNvPr id="4" name="Content Placeholder 3" descr="A graph of different colored squares&#10;&#10;AI-generated content may be incorrect.">
            <a:extLst>
              <a:ext uri="{FF2B5EF4-FFF2-40B4-BE49-F238E27FC236}">
                <a16:creationId xmlns:a16="http://schemas.microsoft.com/office/drawing/2014/main" id="{F7393EDD-1958-DEA9-1CEE-6ACE83960FB6}"/>
              </a:ext>
            </a:extLst>
          </p:cNvPr>
          <p:cNvPicPr>
            <a:picLocks noChangeAspect="1"/>
          </p:cNvPicPr>
          <p:nvPr/>
        </p:nvPicPr>
        <p:blipFill>
          <a:blip r:embed="rId2"/>
          <a:stretch>
            <a:fillRect/>
          </a:stretch>
        </p:blipFill>
        <p:spPr>
          <a:xfrm>
            <a:off x="4432338" y="609600"/>
            <a:ext cx="4265159" cy="2601747"/>
          </a:xfrm>
          <a:prstGeom prst="rect">
            <a:avLst/>
          </a:prstGeom>
        </p:spPr>
      </p:pic>
      <p:pic>
        <p:nvPicPr>
          <p:cNvPr id="6" name="Picture 5" descr="A green and red pie chart&#10;&#10;AI-generated content may be incorrect.">
            <a:extLst>
              <a:ext uri="{FF2B5EF4-FFF2-40B4-BE49-F238E27FC236}">
                <a16:creationId xmlns:a16="http://schemas.microsoft.com/office/drawing/2014/main" id="{44721ABE-BCD9-8C6B-D4EA-5534C7E9F1C0}"/>
              </a:ext>
            </a:extLst>
          </p:cNvPr>
          <p:cNvPicPr>
            <a:picLocks noChangeAspect="1"/>
          </p:cNvPicPr>
          <p:nvPr/>
        </p:nvPicPr>
        <p:blipFill>
          <a:blip r:embed="rId3"/>
          <a:stretch>
            <a:fillRect/>
          </a:stretch>
        </p:blipFill>
        <p:spPr>
          <a:xfrm>
            <a:off x="4440559" y="3439020"/>
            <a:ext cx="4248719" cy="2602341"/>
          </a:xfrm>
          <a:prstGeom prst="rect">
            <a:avLst/>
          </a:prstGeom>
        </p:spPr>
      </p:pic>
    </p:spTree>
    <p:extLst>
      <p:ext uri="{BB962C8B-B14F-4D97-AF65-F5344CB8AC3E}">
        <p14:creationId xmlns:p14="http://schemas.microsoft.com/office/powerpoint/2010/main" val="3253903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85F6A4-977D-64B9-CCDB-3D3C06798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40A22-C76F-7111-7DF0-322F364E9FED}"/>
              </a:ext>
            </a:extLst>
          </p:cNvPr>
          <p:cNvSpPr>
            <a:spLocks noGrp="1"/>
          </p:cNvSpPr>
          <p:nvPr>
            <p:ph type="title"/>
          </p:nvPr>
        </p:nvSpPr>
        <p:spPr>
          <a:xfrm>
            <a:off x="937054" y="159554"/>
            <a:ext cx="3183556" cy="1320800"/>
          </a:xfrm>
        </p:spPr>
        <p:txBody>
          <a:bodyPr anchor="ctr">
            <a:normAutofit fontScale="90000"/>
          </a:bodyPr>
          <a:lstStyle/>
          <a:p>
            <a:pPr>
              <a:lnSpc>
                <a:spcPct val="90000"/>
              </a:lnSpc>
            </a:pPr>
            <a:r>
              <a:rPr lang="en-US" sz="2300" dirty="0"/>
              <a:t>Dashboard Walkthrough (Google Maps)</a:t>
            </a:r>
            <a:br>
              <a:rPr lang="en-US" sz="2300" dirty="0"/>
            </a:br>
            <a:endParaRPr lang="en-US" sz="2300" dirty="0"/>
          </a:p>
        </p:txBody>
      </p:sp>
      <p:sp>
        <p:nvSpPr>
          <p:cNvPr id="9" name="Content Placeholder 8">
            <a:extLst>
              <a:ext uri="{FF2B5EF4-FFF2-40B4-BE49-F238E27FC236}">
                <a16:creationId xmlns:a16="http://schemas.microsoft.com/office/drawing/2014/main" id="{AD922A44-F251-09C9-4ED2-BA1E319F7D74}"/>
              </a:ext>
            </a:extLst>
          </p:cNvPr>
          <p:cNvSpPr>
            <a:spLocks noGrp="1"/>
          </p:cNvSpPr>
          <p:nvPr>
            <p:ph idx="1"/>
          </p:nvPr>
        </p:nvSpPr>
        <p:spPr>
          <a:xfrm>
            <a:off x="5423033" y="1276850"/>
            <a:ext cx="4247755" cy="5386477"/>
          </a:xfrm>
        </p:spPr>
        <p:txBody>
          <a:bodyPr vert="horz" lIns="91440" tIns="45720" rIns="91440" bIns="45720" rtlCol="0">
            <a:normAutofit fontScale="77500" lnSpcReduction="20000"/>
          </a:bodyPr>
          <a:lstStyle/>
          <a:p>
            <a:r>
              <a:rPr lang="en-US" dirty="0"/>
              <a:t>Filtered to only year 2025</a:t>
            </a:r>
          </a:p>
          <a:p>
            <a:r>
              <a:rPr lang="en-US" dirty="0"/>
              <a:t>congruency or matching of trend line point to the fact that the sentiment and rating are moving in tandem, and making both metrics reliable</a:t>
            </a:r>
          </a:p>
          <a:p>
            <a:pPr lvl="1"/>
            <a:r>
              <a:rPr lang="en-US" dirty="0"/>
              <a:t>in plainer terms, if the trend lines rise or fall at what looks like the same rate, it means that the ratings and sentiment values hold truth in relation to each other. </a:t>
            </a:r>
          </a:p>
          <a:p>
            <a:pPr lvl="1"/>
            <a:r>
              <a:rPr lang="en-US" dirty="0"/>
              <a:t>if they're different, what customers rated the location may not be as bad or as good as they expressed in their comment/sentiment. </a:t>
            </a:r>
          </a:p>
          <a:p>
            <a:r>
              <a:rPr lang="en-US" dirty="0"/>
              <a:t>overall trend overtime shows fluctuations that seem to be somewhat cyclical</a:t>
            </a:r>
          </a:p>
          <a:p>
            <a:pPr lvl="1"/>
            <a:r>
              <a:rPr lang="en-US" dirty="0"/>
              <a:t>a huge divergence happens in December, the </a:t>
            </a:r>
            <a:br>
              <a:rPr lang="en-US" dirty="0"/>
            </a:br>
            <a:r>
              <a:rPr lang="en-US" dirty="0"/>
              <a:t>holiday month, as ratings fall to its lowest </a:t>
            </a:r>
            <a:br>
              <a:rPr lang="en-US" dirty="0"/>
            </a:br>
            <a:r>
              <a:rPr lang="en-US" dirty="0"/>
              <a:t>average and sentiment rises to its highest average </a:t>
            </a:r>
          </a:p>
          <a:p>
            <a:pPr lvl="1"/>
            <a:endParaRPr lang="en-US" dirty="0"/>
          </a:p>
          <a:p>
            <a:r>
              <a:rPr lang="en-US" dirty="0"/>
              <a:t>binned the sentiment number values </a:t>
            </a:r>
          </a:p>
          <a:p>
            <a:r>
              <a:rPr lang="en-US" dirty="0"/>
              <a:t>the binning/grouping of values helps:</a:t>
            </a:r>
          </a:p>
          <a:p>
            <a:pPr lvl="1"/>
            <a:r>
              <a:rPr lang="en-US" dirty="0"/>
              <a:t> to eliminate noise </a:t>
            </a:r>
          </a:p>
          <a:p>
            <a:pPr lvl="1"/>
            <a:r>
              <a:rPr lang="en-US" dirty="0"/>
              <a:t>to point out a clear sentiment </a:t>
            </a:r>
          </a:p>
          <a:p>
            <a:r>
              <a:rPr lang="en-US" dirty="0"/>
              <a:t>Sentiment overall resoundingly very positive </a:t>
            </a:r>
          </a:p>
        </p:txBody>
      </p:sp>
      <p:pic>
        <p:nvPicPr>
          <p:cNvPr id="5" name="Picture 4" descr="A graph of a graph&#10;&#10;AI-generated content may be incorrect.">
            <a:extLst>
              <a:ext uri="{FF2B5EF4-FFF2-40B4-BE49-F238E27FC236}">
                <a16:creationId xmlns:a16="http://schemas.microsoft.com/office/drawing/2014/main" id="{56D5ABFA-44B0-F6CE-A762-06C9568E61F5}"/>
              </a:ext>
            </a:extLst>
          </p:cNvPr>
          <p:cNvPicPr>
            <a:picLocks noChangeAspect="1"/>
          </p:cNvPicPr>
          <p:nvPr/>
        </p:nvPicPr>
        <p:blipFill>
          <a:blip r:embed="rId2"/>
          <a:stretch>
            <a:fillRect/>
          </a:stretch>
        </p:blipFill>
        <p:spPr>
          <a:xfrm>
            <a:off x="624760" y="1275379"/>
            <a:ext cx="4805561" cy="4099957"/>
          </a:xfrm>
          <a:prstGeom prst="rect">
            <a:avLst/>
          </a:prstGeom>
        </p:spPr>
      </p:pic>
    </p:spTree>
    <p:extLst>
      <p:ext uri="{BB962C8B-B14F-4D97-AF65-F5344CB8AC3E}">
        <p14:creationId xmlns:p14="http://schemas.microsoft.com/office/powerpoint/2010/main" val="70499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92AAE5-1B47-FA66-F3DC-106E6A5DB4DE}"/>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E0BF35CA-8AA0-428F-ABED-5B77A6C39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7" name="Straight Connector 26">
              <a:extLst>
                <a:ext uri="{FF2B5EF4-FFF2-40B4-BE49-F238E27FC236}">
                  <a16:creationId xmlns:a16="http://schemas.microsoft.com/office/drawing/2014/main" id="{FA4A156A-791B-4BD9-8452-A798A15D22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7652CB1-59D3-4DAB-AD45-8DFB738958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83539C1B-883E-4130-95FA-2A6FD3E4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 name="Rectangle 25">
              <a:extLst>
                <a:ext uri="{FF2B5EF4-FFF2-40B4-BE49-F238E27FC236}">
                  <a16:creationId xmlns:a16="http://schemas.microsoft.com/office/drawing/2014/main" id="{244CEE5F-144C-437F-9472-22EE3E3D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1" name="Isosceles Triangle 30">
              <a:extLst>
                <a:ext uri="{FF2B5EF4-FFF2-40B4-BE49-F238E27FC236}">
                  <a16:creationId xmlns:a16="http://schemas.microsoft.com/office/drawing/2014/main" id="{0621BB31-AA71-4E9B-8854-3C62F162F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2" name="Rectangle 27">
              <a:extLst>
                <a:ext uri="{FF2B5EF4-FFF2-40B4-BE49-F238E27FC236}">
                  <a16:creationId xmlns:a16="http://schemas.microsoft.com/office/drawing/2014/main" id="{5336141D-E3C6-4E7B-8923-B31C3E16F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3" name="Rectangle 28">
              <a:extLst>
                <a:ext uri="{FF2B5EF4-FFF2-40B4-BE49-F238E27FC236}">
                  <a16:creationId xmlns:a16="http://schemas.microsoft.com/office/drawing/2014/main" id="{F113BE6F-9D13-4E70-B7AB-C8CC2546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4" name="Rectangle 29">
              <a:extLst>
                <a:ext uri="{FF2B5EF4-FFF2-40B4-BE49-F238E27FC236}">
                  <a16:creationId xmlns:a16="http://schemas.microsoft.com/office/drawing/2014/main" id="{FBEB82C3-C636-4A90-B9A5-905EC38E0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5" name="Isosceles Triangle 34">
              <a:extLst>
                <a:ext uri="{FF2B5EF4-FFF2-40B4-BE49-F238E27FC236}">
                  <a16:creationId xmlns:a16="http://schemas.microsoft.com/office/drawing/2014/main" id="{646B4C4A-5A81-43CF-93ED-5FA59D5B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6" name="Isosceles Triangle 35">
              <a:extLst>
                <a:ext uri="{FF2B5EF4-FFF2-40B4-BE49-F238E27FC236}">
                  <a16:creationId xmlns:a16="http://schemas.microsoft.com/office/drawing/2014/main" id="{C3715C1A-EBA1-41A6-AC20-D6A7C4871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1">
            <a:extLst>
              <a:ext uri="{FF2B5EF4-FFF2-40B4-BE49-F238E27FC236}">
                <a16:creationId xmlns:a16="http://schemas.microsoft.com/office/drawing/2014/main" id="{52AB72A3-8568-81DF-3213-0235849962B3}"/>
              </a:ext>
            </a:extLst>
          </p:cNvPr>
          <p:cNvSpPr>
            <a:spLocks noGrp="1"/>
          </p:cNvSpPr>
          <p:nvPr>
            <p:ph type="title"/>
          </p:nvPr>
        </p:nvSpPr>
        <p:spPr>
          <a:xfrm>
            <a:off x="6094855" y="870034"/>
            <a:ext cx="3497565" cy="3002662"/>
          </a:xfrm>
        </p:spPr>
        <p:txBody>
          <a:bodyPr vert="horz" lIns="91440" tIns="45720" rIns="91440" bIns="45720" rtlCol="0" anchor="b">
            <a:normAutofit/>
          </a:bodyPr>
          <a:lstStyle/>
          <a:p>
            <a:r>
              <a:rPr lang="en-US" sz="4400"/>
              <a:t>Dashboard Walkthrough (Reddit)</a:t>
            </a:r>
            <a:br>
              <a:rPr lang="en-US" sz="4400"/>
            </a:br>
            <a:endParaRPr lang="en-US" sz="4400"/>
          </a:p>
        </p:txBody>
      </p:sp>
      <p:sp>
        <p:nvSpPr>
          <p:cNvPr id="38" name="Isosceles Triangle 37">
            <a:extLst>
              <a:ext uri="{FF2B5EF4-FFF2-40B4-BE49-F238E27FC236}">
                <a16:creationId xmlns:a16="http://schemas.microsoft.com/office/drawing/2014/main" id="{643561E9-1291-4440-A6DF-5F15C8890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10" name="Picture 9" descr="A graph of different colored squares&#10;&#10;AI-generated content may be incorrect.">
            <a:extLst>
              <a:ext uri="{FF2B5EF4-FFF2-40B4-BE49-F238E27FC236}">
                <a16:creationId xmlns:a16="http://schemas.microsoft.com/office/drawing/2014/main" id="{ADC9C13C-32EB-A3BB-C778-C24F0D7106BC}"/>
              </a:ext>
            </a:extLst>
          </p:cNvPr>
          <p:cNvPicPr>
            <a:picLocks noChangeAspect="1"/>
          </p:cNvPicPr>
          <p:nvPr/>
        </p:nvPicPr>
        <p:blipFill>
          <a:blip r:embed="rId2"/>
          <a:stretch>
            <a:fillRect/>
          </a:stretch>
        </p:blipFill>
        <p:spPr>
          <a:xfrm>
            <a:off x="1151595" y="1261330"/>
            <a:ext cx="4624362" cy="4335340"/>
          </a:xfrm>
          <a:prstGeom prst="rect">
            <a:avLst/>
          </a:prstGeom>
        </p:spPr>
      </p:pic>
      <p:sp>
        <p:nvSpPr>
          <p:cNvPr id="4" name="TextBox 3">
            <a:extLst>
              <a:ext uri="{FF2B5EF4-FFF2-40B4-BE49-F238E27FC236}">
                <a16:creationId xmlns:a16="http://schemas.microsoft.com/office/drawing/2014/main" id="{D03B5B98-4FEF-A03C-1CCE-C9DBA2359FC8}"/>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endParaRPr lang="en-US" sz="900" dirty="0">
              <a:solidFill>
                <a:schemeClr val="bg1"/>
              </a:solidFill>
            </a:endParaRPr>
          </a:p>
        </p:txBody>
      </p:sp>
      <p:sp>
        <p:nvSpPr>
          <p:cNvPr id="5" name="AutoShape 2" descr="Selected image presented in a lightbox.">
            <a:extLst>
              <a:ext uri="{FF2B5EF4-FFF2-40B4-BE49-F238E27FC236}">
                <a16:creationId xmlns:a16="http://schemas.microsoft.com/office/drawing/2014/main" id="{471F3E43-6076-F086-B45A-DB1BF2EFFF9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 name="Content Placeholder 8">
            <a:extLst>
              <a:ext uri="{FF2B5EF4-FFF2-40B4-BE49-F238E27FC236}">
                <a16:creationId xmlns:a16="http://schemas.microsoft.com/office/drawing/2014/main" id="{E23A7A5F-C987-E45F-9441-CCA7A8F431F0}"/>
              </a:ext>
            </a:extLst>
          </p:cNvPr>
          <p:cNvSpPr>
            <a:spLocks noGrp="1"/>
          </p:cNvSpPr>
          <p:nvPr>
            <p:ph idx="1"/>
          </p:nvPr>
        </p:nvSpPr>
        <p:spPr>
          <a:xfrm>
            <a:off x="5948195" y="3274526"/>
            <a:ext cx="3897647" cy="2575316"/>
          </a:xfrm>
        </p:spPr>
        <p:txBody>
          <a:bodyPr vert="horz" lIns="91440" tIns="45720" rIns="91440" bIns="45720" rtlCol="0" anchor="t">
            <a:normAutofit/>
          </a:bodyPr>
          <a:lstStyle/>
          <a:p>
            <a:r>
              <a:rPr lang="en-US" dirty="0"/>
              <a:t>Sentiment analysis returned a lot of 0 values.</a:t>
            </a:r>
          </a:p>
          <a:p>
            <a:r>
              <a:rPr lang="en-US" dirty="0"/>
              <a:t>The analysis could not come up with a score for the response or deemed it unrelated</a:t>
            </a:r>
          </a:p>
          <a:p>
            <a:r>
              <a:rPr lang="en-US" dirty="0"/>
              <a:t>This skewed the data, inflating the number of responses in the neutral category </a:t>
            </a:r>
          </a:p>
        </p:txBody>
      </p:sp>
    </p:spTree>
    <p:extLst>
      <p:ext uri="{BB962C8B-B14F-4D97-AF65-F5344CB8AC3E}">
        <p14:creationId xmlns:p14="http://schemas.microsoft.com/office/powerpoint/2010/main" val="127784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6AAC-E0B5-8EAB-8014-6A9B54A4DEFD}"/>
              </a:ext>
            </a:extLst>
          </p:cNvPr>
          <p:cNvSpPr>
            <a:spLocks noGrp="1"/>
          </p:cNvSpPr>
          <p:nvPr>
            <p:ph type="title"/>
          </p:nvPr>
        </p:nvSpPr>
        <p:spPr>
          <a:xfrm>
            <a:off x="675065" y="609600"/>
            <a:ext cx="2930518" cy="1320800"/>
          </a:xfrm>
        </p:spPr>
        <p:txBody>
          <a:bodyPr anchor="ctr">
            <a:normAutofit/>
          </a:bodyPr>
          <a:lstStyle/>
          <a:p>
            <a:r>
              <a:rPr lang="en-CA" dirty="0"/>
              <a:t>Combined Metrics</a:t>
            </a:r>
          </a:p>
        </p:txBody>
      </p:sp>
      <p:sp>
        <p:nvSpPr>
          <p:cNvPr id="3" name="Content Placeholder 2">
            <a:extLst>
              <a:ext uri="{FF2B5EF4-FFF2-40B4-BE49-F238E27FC236}">
                <a16:creationId xmlns:a16="http://schemas.microsoft.com/office/drawing/2014/main" id="{E0947171-D15C-D54F-4CCB-15407EAC883B}"/>
              </a:ext>
            </a:extLst>
          </p:cNvPr>
          <p:cNvSpPr>
            <a:spLocks noGrp="1"/>
          </p:cNvSpPr>
          <p:nvPr>
            <p:ph idx="1"/>
          </p:nvPr>
        </p:nvSpPr>
        <p:spPr>
          <a:xfrm>
            <a:off x="671362" y="2160589"/>
            <a:ext cx="3427446" cy="4011611"/>
          </a:xfrm>
        </p:spPr>
        <p:txBody>
          <a:bodyPr>
            <a:normAutofit fontScale="92500" lnSpcReduction="20000"/>
          </a:bodyPr>
          <a:lstStyle/>
          <a:p>
            <a:r>
              <a:rPr lang="en-US" dirty="0"/>
              <a:t>The graph shows the </a:t>
            </a:r>
            <a:br>
              <a:rPr lang="en-US" dirty="0"/>
            </a:br>
            <a:r>
              <a:rPr lang="en-US" dirty="0"/>
              <a:t>continued sentiment of very positive reviews leading the </a:t>
            </a:r>
            <a:br>
              <a:rPr lang="en-US" dirty="0"/>
            </a:br>
            <a:r>
              <a:rPr lang="en-US" dirty="0"/>
              <a:t>response count</a:t>
            </a:r>
          </a:p>
          <a:p>
            <a:r>
              <a:rPr lang="en-US" dirty="0"/>
              <a:t>Showcases how google maps </a:t>
            </a:r>
            <a:br>
              <a:rPr lang="en-US" dirty="0"/>
            </a:br>
            <a:r>
              <a:rPr lang="en-US" dirty="0"/>
              <a:t>is contributing to most of the very positive sentiment and reddit contributing to most of the neutral sentiment </a:t>
            </a:r>
          </a:p>
          <a:p>
            <a:r>
              <a:rPr lang="en-US" dirty="0"/>
              <a:t>This graph shows google plays overwhelming contribution </a:t>
            </a:r>
            <a:br>
              <a:rPr lang="en-US" dirty="0"/>
            </a:br>
            <a:r>
              <a:rPr lang="en-US" dirty="0"/>
              <a:t>to positive sentiment</a:t>
            </a:r>
          </a:p>
          <a:p>
            <a:r>
              <a:rPr lang="en-US" dirty="0"/>
              <a:t>It also shows google play’s </a:t>
            </a:r>
            <a:br>
              <a:rPr lang="en-US" dirty="0"/>
            </a:br>
            <a:r>
              <a:rPr lang="en-US" dirty="0"/>
              <a:t>low level contribution to the negative sentiment in </a:t>
            </a:r>
            <a:br>
              <a:rPr lang="en-US" dirty="0"/>
            </a:br>
            <a:r>
              <a:rPr lang="en-US" dirty="0"/>
              <a:t>comparison to other sources</a:t>
            </a:r>
          </a:p>
          <a:p>
            <a:endParaRPr lang="en-US" dirty="0"/>
          </a:p>
        </p:txBody>
      </p:sp>
      <p:pic>
        <p:nvPicPr>
          <p:cNvPr id="5" name="Picture 4" descr="A graph of different colors&#10;&#10;AI-generated content may be incorrect.">
            <a:extLst>
              <a:ext uri="{FF2B5EF4-FFF2-40B4-BE49-F238E27FC236}">
                <a16:creationId xmlns:a16="http://schemas.microsoft.com/office/drawing/2014/main" id="{C3B31438-A271-F2A2-F958-301B9D13B34A}"/>
              </a:ext>
            </a:extLst>
          </p:cNvPr>
          <p:cNvPicPr>
            <a:picLocks noChangeAspect="1"/>
          </p:cNvPicPr>
          <p:nvPr/>
        </p:nvPicPr>
        <p:blipFill>
          <a:blip r:embed="rId2"/>
          <a:stretch>
            <a:fillRect/>
          </a:stretch>
        </p:blipFill>
        <p:spPr>
          <a:xfrm>
            <a:off x="4098808" y="609600"/>
            <a:ext cx="4932220" cy="2601747"/>
          </a:xfrm>
          <a:prstGeom prst="rect">
            <a:avLst/>
          </a:prstGeom>
        </p:spPr>
      </p:pic>
      <p:pic>
        <p:nvPicPr>
          <p:cNvPr id="7" name="Picture 6" descr="A graph of different colored bars&#10;&#10;AI-generated content may be incorrect.">
            <a:extLst>
              <a:ext uri="{FF2B5EF4-FFF2-40B4-BE49-F238E27FC236}">
                <a16:creationId xmlns:a16="http://schemas.microsoft.com/office/drawing/2014/main" id="{BC88966F-06B5-14CF-517F-E9334025A012}"/>
              </a:ext>
            </a:extLst>
          </p:cNvPr>
          <p:cNvPicPr>
            <a:picLocks noChangeAspect="1"/>
          </p:cNvPicPr>
          <p:nvPr/>
        </p:nvPicPr>
        <p:blipFill>
          <a:blip r:embed="rId3"/>
          <a:stretch>
            <a:fillRect/>
          </a:stretch>
        </p:blipFill>
        <p:spPr>
          <a:xfrm>
            <a:off x="5230385" y="3439020"/>
            <a:ext cx="2669068" cy="2602341"/>
          </a:xfrm>
          <a:prstGeom prst="rect">
            <a:avLst/>
          </a:prstGeom>
        </p:spPr>
      </p:pic>
    </p:spTree>
    <p:extLst>
      <p:ext uri="{BB962C8B-B14F-4D97-AF65-F5344CB8AC3E}">
        <p14:creationId xmlns:p14="http://schemas.microsoft.com/office/powerpoint/2010/main" val="3314904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BF162-55F3-3DB0-3C15-CFE656F68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52469-ECFD-4F38-26FD-71F8A41A0F94}"/>
              </a:ext>
            </a:extLst>
          </p:cNvPr>
          <p:cNvSpPr>
            <a:spLocks noGrp="1"/>
          </p:cNvSpPr>
          <p:nvPr>
            <p:ph type="title"/>
          </p:nvPr>
        </p:nvSpPr>
        <p:spPr/>
        <p:txBody>
          <a:bodyPr>
            <a:normAutofit/>
          </a:bodyPr>
          <a:lstStyle/>
          <a:p>
            <a:r>
              <a:rPr lang="en-US"/>
              <a:t>Key Customer data-driven Insights</a:t>
            </a:r>
            <a:endParaRPr lang="en-US" dirty="0"/>
          </a:p>
        </p:txBody>
      </p:sp>
      <p:sp>
        <p:nvSpPr>
          <p:cNvPr id="3" name="Content Placeholder 2">
            <a:extLst>
              <a:ext uri="{FF2B5EF4-FFF2-40B4-BE49-F238E27FC236}">
                <a16:creationId xmlns:a16="http://schemas.microsoft.com/office/drawing/2014/main" id="{FCD324C8-46BE-7A53-8454-CA1B7FF6EF64}"/>
              </a:ext>
            </a:extLst>
          </p:cNvPr>
          <p:cNvSpPr>
            <a:spLocks noGrp="1"/>
          </p:cNvSpPr>
          <p:nvPr>
            <p:ph idx="1"/>
          </p:nvPr>
        </p:nvSpPr>
        <p:spPr/>
        <p:txBody>
          <a:bodyPr>
            <a:normAutofit/>
          </a:bodyPr>
          <a:lstStyle/>
          <a:p>
            <a:r>
              <a:rPr lang="en-US" dirty="0"/>
              <a:t>1. Store Experience</a:t>
            </a:r>
          </a:p>
          <a:p>
            <a:r>
              <a:rPr lang="en-US" dirty="0"/>
              <a:t>Clean, inviting, and convenient locations praised</a:t>
            </a:r>
          </a:p>
          <a:p>
            <a:r>
              <a:rPr lang="en-US" dirty="0"/>
              <a:t>Limited seating &amp; parking frustrations</a:t>
            </a:r>
          </a:p>
          <a:p>
            <a:r>
              <a:rPr lang="en-US" dirty="0"/>
              <a:t>2. Staff &amp; Service</a:t>
            </a:r>
          </a:p>
          <a:p>
            <a:r>
              <a:rPr lang="en-US" dirty="0"/>
              <a:t>Friendly, efficient, personalized service = high satisfaction</a:t>
            </a:r>
          </a:p>
          <a:p>
            <a:r>
              <a:rPr lang="en-US" dirty="0"/>
              <a:t>Rude or inattentive staff = negative experiences</a:t>
            </a:r>
          </a:p>
          <a:p>
            <a:r>
              <a:rPr lang="en-US" dirty="0"/>
              <a:t>3. Product Quality</a:t>
            </a:r>
          </a:p>
          <a:p>
            <a:r>
              <a:rPr lang="en-US" dirty="0"/>
              <a:t>Coffee &amp; specialty drinks highly rated</a:t>
            </a:r>
          </a:p>
          <a:p>
            <a:r>
              <a:rPr lang="en-US" dirty="0"/>
              <a:t>Order mistakes or mismatched expectations frustrate customers</a:t>
            </a:r>
          </a:p>
        </p:txBody>
      </p:sp>
    </p:spTree>
    <p:extLst>
      <p:ext uri="{BB962C8B-B14F-4D97-AF65-F5344CB8AC3E}">
        <p14:creationId xmlns:p14="http://schemas.microsoft.com/office/powerpoint/2010/main" val="422855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97E1-4596-2EFB-3083-FBB0E8899655}"/>
              </a:ext>
            </a:extLst>
          </p:cNvPr>
          <p:cNvSpPr>
            <a:spLocks noGrp="1"/>
          </p:cNvSpPr>
          <p:nvPr>
            <p:ph type="title"/>
          </p:nvPr>
        </p:nvSpPr>
        <p:spPr/>
        <p:txBody>
          <a:bodyPr>
            <a:normAutofit/>
          </a:bodyPr>
          <a:lstStyle/>
          <a:p>
            <a:r>
              <a:rPr lang="en-US"/>
              <a:t>Key Customer data-driven Insights</a:t>
            </a:r>
            <a:endParaRPr lang="en-US" dirty="0"/>
          </a:p>
        </p:txBody>
      </p:sp>
      <p:sp>
        <p:nvSpPr>
          <p:cNvPr id="3" name="Content Placeholder 2">
            <a:extLst>
              <a:ext uri="{FF2B5EF4-FFF2-40B4-BE49-F238E27FC236}">
                <a16:creationId xmlns:a16="http://schemas.microsoft.com/office/drawing/2014/main" id="{0BC2ACF2-8600-5C4D-3645-F78E86079461}"/>
              </a:ext>
            </a:extLst>
          </p:cNvPr>
          <p:cNvSpPr>
            <a:spLocks noGrp="1"/>
          </p:cNvSpPr>
          <p:nvPr>
            <p:ph idx="1"/>
          </p:nvPr>
        </p:nvSpPr>
        <p:spPr/>
        <p:txBody>
          <a:bodyPr>
            <a:normAutofit/>
          </a:bodyPr>
          <a:lstStyle/>
          <a:p>
            <a:r>
              <a:rPr lang="en-US" dirty="0"/>
              <a:t>Digital Experience (App)Mobile ordering &amp; rewards popular</a:t>
            </a:r>
          </a:p>
          <a:p>
            <a:r>
              <a:rPr lang="en-US" dirty="0"/>
              <a:t>App bugs, inability to tip, or update issues = major complaints</a:t>
            </a:r>
          </a:p>
          <a:p>
            <a:r>
              <a:rPr lang="en-US" dirty="0"/>
              <a:t>5. Social / Cultural Experience</a:t>
            </a:r>
          </a:p>
          <a:p>
            <a:r>
              <a:rPr lang="en-US" dirty="0"/>
              <a:t>Cup messages &amp; small personal touches appreciated</a:t>
            </a:r>
          </a:p>
          <a:p>
            <a:r>
              <a:rPr lang="en-US" dirty="0"/>
              <a:t>Repetitive trends or overly strict enforcement annoy some customers</a:t>
            </a:r>
          </a:p>
          <a:p>
            <a:r>
              <a:rPr lang="en-US" dirty="0"/>
              <a:t>6. Overall Insight</a:t>
            </a:r>
          </a:p>
          <a:p>
            <a:r>
              <a:rPr lang="en-US" dirty="0"/>
              <a:t>Loyalty driven by staff, quality, &amp; convenience</a:t>
            </a:r>
          </a:p>
          <a:p>
            <a:r>
              <a:rPr lang="en-US" dirty="0"/>
              <a:t>Operational and digital friction = key improvement areas</a:t>
            </a:r>
          </a:p>
        </p:txBody>
      </p:sp>
    </p:spTree>
    <p:extLst>
      <p:ext uri="{BB962C8B-B14F-4D97-AF65-F5344CB8AC3E}">
        <p14:creationId xmlns:p14="http://schemas.microsoft.com/office/powerpoint/2010/main" val="12201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7E88-3CF9-3096-E2F8-EAD4CA3B7F23}"/>
              </a:ext>
            </a:extLst>
          </p:cNvPr>
          <p:cNvSpPr>
            <a:spLocks noGrp="1"/>
          </p:cNvSpPr>
          <p:nvPr>
            <p:ph type="title"/>
          </p:nvPr>
        </p:nvSpPr>
        <p:spPr/>
        <p:txBody>
          <a:bodyPr/>
          <a:lstStyle/>
          <a:p>
            <a:r>
              <a:rPr lang="en-US" dirty="0">
                <a:ea typeface="+mj-lt"/>
                <a:cs typeface="+mj-lt"/>
              </a:rPr>
              <a:t>Recommended Actions</a:t>
            </a:r>
            <a:endParaRPr lang="en-US" dirty="0"/>
          </a:p>
        </p:txBody>
      </p:sp>
      <p:sp>
        <p:nvSpPr>
          <p:cNvPr id="3" name="Content Placeholder 2">
            <a:extLst>
              <a:ext uri="{FF2B5EF4-FFF2-40B4-BE49-F238E27FC236}">
                <a16:creationId xmlns:a16="http://schemas.microsoft.com/office/drawing/2014/main" id="{CD4EF638-DE72-DA57-2629-24C7CC030FE9}"/>
              </a:ext>
            </a:extLst>
          </p:cNvPr>
          <p:cNvSpPr>
            <a:spLocks noGrp="1"/>
          </p:cNvSpPr>
          <p:nvPr>
            <p:ph idx="1"/>
          </p:nvPr>
        </p:nvSpPr>
        <p:spPr/>
        <p:txBody>
          <a:bodyPr vert="horz" lIns="91440" tIns="45720" rIns="91440" bIns="45720" rtlCol="0" anchor="t">
            <a:normAutofit fontScale="62500" lnSpcReduction="20000"/>
          </a:bodyPr>
          <a:lstStyle/>
          <a:p>
            <a:r>
              <a:rPr lang="en-US" sz="2200" b="1" dirty="0"/>
              <a:t>1. Attack Digital Instability First (Google Play)</a:t>
            </a:r>
          </a:p>
          <a:p>
            <a:r>
              <a:rPr lang="en-US" b="1" dirty="0"/>
              <a:t>Insight:</a:t>
            </a:r>
            <a:r>
              <a:rPr lang="en-US" dirty="0"/>
              <a:t> Technical failures—like the inability to leave tips and app update bugs—are the core driver of our low app ratings.</a:t>
            </a:r>
          </a:p>
          <a:p>
            <a:r>
              <a:rPr lang="en-US" b="1" dirty="0"/>
              <a:t>Action:</a:t>
            </a:r>
            <a:r>
              <a:rPr lang="en-US" dirty="0"/>
              <a:t> Dedicate immediate engineering resources to fix critical bugs and enhance overall app stability.</a:t>
            </a:r>
          </a:p>
          <a:p>
            <a:r>
              <a:rPr lang="en-US" b="1" dirty="0"/>
              <a:t>Goal:</a:t>
            </a:r>
            <a:r>
              <a:rPr lang="en-US" dirty="0"/>
              <a:t> Quickly elevate the average Google Play rating and improve user experience.</a:t>
            </a:r>
          </a:p>
          <a:p>
            <a:r>
              <a:rPr lang="en-US" sz="2200" b="1" dirty="0"/>
              <a:t>2. Elevate In-Store Operational Excellence (Google Maps)</a:t>
            </a:r>
          </a:p>
          <a:p>
            <a:r>
              <a:rPr lang="en-US" b="1" dirty="0"/>
              <a:t>Insight:</a:t>
            </a:r>
            <a:r>
              <a:rPr lang="en-US" dirty="0"/>
              <a:t> Many negative reviews mention poor staff attitude, order inaccuracy, and managerial inconsistencies.</a:t>
            </a:r>
          </a:p>
          <a:p>
            <a:r>
              <a:rPr lang="en-US" b="1" dirty="0"/>
              <a:t>Action:</a:t>
            </a:r>
            <a:r>
              <a:rPr lang="en-US" dirty="0"/>
              <a:t> Invest in new training modules for store managers to boost conflict resolution, ensure consistent order preparation, and reinforce personalized service.</a:t>
            </a:r>
          </a:p>
          <a:p>
            <a:r>
              <a:rPr lang="en-US" b="1" dirty="0"/>
              <a:t>Goal:</a:t>
            </a:r>
            <a:r>
              <a:rPr lang="en-US" dirty="0"/>
              <a:t> Reduce the volume of negative transactional feedback and improve in-store service perception.</a:t>
            </a:r>
          </a:p>
          <a:p>
            <a:r>
              <a:rPr lang="en-US" sz="2200" b="1" dirty="0"/>
              <a:t>3. Take Control of Brand Policy Discourse (Reddit)</a:t>
            </a:r>
          </a:p>
          <a:p>
            <a:r>
              <a:rPr lang="en-US" b="1" dirty="0"/>
              <a:t>Insight:</a:t>
            </a:r>
            <a:r>
              <a:rPr lang="en-US" dirty="0"/>
              <a:t> High-visibility, negative community sentiment targets corporate policies, employee wages, and major brand decisions.</a:t>
            </a:r>
          </a:p>
          <a:p>
            <a:r>
              <a:rPr lang="en-US" b="1" dirty="0"/>
              <a:t>Action:</a:t>
            </a:r>
            <a:r>
              <a:rPr lang="en-US" dirty="0"/>
              <a:t> Create a dedicated </a:t>
            </a:r>
            <a:r>
              <a:rPr lang="en-US" b="1" dirty="0"/>
              <a:t>Community/Policy Liaison</a:t>
            </a:r>
            <a:r>
              <a:rPr lang="en-US" dirty="0"/>
              <a:t> role to actively monitor high-impact discussions and inform corporate communications strategy.</a:t>
            </a:r>
          </a:p>
          <a:p>
            <a:r>
              <a:rPr lang="en-US" b="1" dirty="0"/>
              <a:t>Goal:</a:t>
            </a:r>
            <a:r>
              <a:rPr lang="en-US" dirty="0"/>
              <a:t> Achieve a long-term, positive shift in brand perception and corporate dialogue within our most engaged online communities.</a:t>
            </a:r>
          </a:p>
        </p:txBody>
      </p:sp>
    </p:spTree>
    <p:extLst>
      <p:ext uri="{BB962C8B-B14F-4D97-AF65-F5344CB8AC3E}">
        <p14:creationId xmlns:p14="http://schemas.microsoft.com/office/powerpoint/2010/main" val="3261893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BF35CA-8AA0-428F-ABED-5B77A6C39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FA4A156A-791B-4BD9-8452-A798A15D22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7652CB1-59D3-4DAB-AD45-8DFB738958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3539C1B-883E-4130-95FA-2A6FD3E4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25">
              <a:extLst>
                <a:ext uri="{FF2B5EF4-FFF2-40B4-BE49-F238E27FC236}">
                  <a16:creationId xmlns:a16="http://schemas.microsoft.com/office/drawing/2014/main" id="{244CEE5F-144C-437F-9472-22EE3E3D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Isosceles Triangle 14">
              <a:extLst>
                <a:ext uri="{FF2B5EF4-FFF2-40B4-BE49-F238E27FC236}">
                  <a16:creationId xmlns:a16="http://schemas.microsoft.com/office/drawing/2014/main" id="{0621BB31-AA71-4E9B-8854-3C62F162F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27">
              <a:extLst>
                <a:ext uri="{FF2B5EF4-FFF2-40B4-BE49-F238E27FC236}">
                  <a16:creationId xmlns:a16="http://schemas.microsoft.com/office/drawing/2014/main" id="{5336141D-E3C6-4E7B-8923-B31C3E16F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28">
              <a:extLst>
                <a:ext uri="{FF2B5EF4-FFF2-40B4-BE49-F238E27FC236}">
                  <a16:creationId xmlns:a16="http://schemas.microsoft.com/office/drawing/2014/main" id="{F113BE6F-9D13-4E70-B7AB-C8CC2546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Rectangle 29">
              <a:extLst>
                <a:ext uri="{FF2B5EF4-FFF2-40B4-BE49-F238E27FC236}">
                  <a16:creationId xmlns:a16="http://schemas.microsoft.com/office/drawing/2014/main" id="{FBEB82C3-C636-4A90-B9A5-905EC38E0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Isosceles Triangle 18">
              <a:extLst>
                <a:ext uri="{FF2B5EF4-FFF2-40B4-BE49-F238E27FC236}">
                  <a16:creationId xmlns:a16="http://schemas.microsoft.com/office/drawing/2014/main" id="{646B4C4A-5A81-43CF-93ED-5FA59D5B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Isosceles Triangle 19">
              <a:extLst>
                <a:ext uri="{FF2B5EF4-FFF2-40B4-BE49-F238E27FC236}">
                  <a16:creationId xmlns:a16="http://schemas.microsoft.com/office/drawing/2014/main" id="{C3715C1A-EBA1-41A6-AC20-D6A7C4871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1">
            <a:extLst>
              <a:ext uri="{FF2B5EF4-FFF2-40B4-BE49-F238E27FC236}">
                <a16:creationId xmlns:a16="http://schemas.microsoft.com/office/drawing/2014/main" id="{C570335C-674C-C398-1268-93FCBF4DAF8B}"/>
              </a:ext>
            </a:extLst>
          </p:cNvPr>
          <p:cNvSpPr>
            <a:spLocks noGrp="1"/>
          </p:cNvSpPr>
          <p:nvPr>
            <p:ph type="title"/>
          </p:nvPr>
        </p:nvSpPr>
        <p:spPr>
          <a:xfrm>
            <a:off x="985969" y="4553712"/>
            <a:ext cx="8288032" cy="1096316"/>
          </a:xfrm>
        </p:spPr>
        <p:txBody>
          <a:bodyPr vert="horz" lIns="91440" tIns="45720" rIns="91440" bIns="45720" rtlCol="0" anchor="b">
            <a:normAutofit/>
          </a:bodyPr>
          <a:lstStyle/>
          <a:p>
            <a:pPr algn="ctr"/>
            <a:r>
              <a:rPr lang="en-US" sz="4800" dirty="0"/>
              <a:t>Questions??</a:t>
            </a:r>
          </a:p>
        </p:txBody>
      </p:sp>
      <p:pic>
        <p:nvPicPr>
          <p:cNvPr id="7" name="Graphic 6" descr="Question mark">
            <a:extLst>
              <a:ext uri="{FF2B5EF4-FFF2-40B4-BE49-F238E27FC236}">
                <a16:creationId xmlns:a16="http://schemas.microsoft.com/office/drawing/2014/main" id="{852E5ADF-953C-487C-E325-37BF8C0095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80259" y="934222"/>
            <a:ext cx="3299450" cy="3299450"/>
          </a:xfrm>
          <a:prstGeom prst="rect">
            <a:avLst/>
          </a:prstGeom>
        </p:spPr>
      </p:pic>
    </p:spTree>
    <p:extLst>
      <p:ext uri="{BB962C8B-B14F-4D97-AF65-F5344CB8AC3E}">
        <p14:creationId xmlns:p14="http://schemas.microsoft.com/office/powerpoint/2010/main" val="196134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CFF5C-068D-0945-8AA0-906CC03E4F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446CC-526C-3921-B506-569980F4B61F}"/>
              </a:ext>
            </a:extLst>
          </p:cNvPr>
          <p:cNvSpPr>
            <a:spLocks noGrp="1"/>
          </p:cNvSpPr>
          <p:nvPr>
            <p:ph idx="1"/>
          </p:nvPr>
        </p:nvSpPr>
        <p:spPr/>
        <p:txBody>
          <a:bodyPr/>
          <a:lstStyle/>
          <a:p>
            <a:endParaRPr lang="en-CA" dirty="0"/>
          </a:p>
        </p:txBody>
      </p:sp>
      <p:sp>
        <p:nvSpPr>
          <p:cNvPr id="5" name="Title 4">
            <a:extLst>
              <a:ext uri="{FF2B5EF4-FFF2-40B4-BE49-F238E27FC236}">
                <a16:creationId xmlns:a16="http://schemas.microsoft.com/office/drawing/2014/main" id="{977706D0-3F96-01ED-9DA0-5AFD452198FE}"/>
              </a:ext>
            </a:extLst>
          </p:cNvPr>
          <p:cNvSpPr>
            <a:spLocks noGrp="1"/>
          </p:cNvSpPr>
          <p:nvPr>
            <p:ph type="title"/>
          </p:nvPr>
        </p:nvSpPr>
        <p:spPr/>
        <p:txBody>
          <a:bodyPr/>
          <a:lstStyle/>
          <a:p>
            <a:endParaRPr lang="en-CA"/>
          </a:p>
        </p:txBody>
      </p:sp>
      <p:pic>
        <p:nvPicPr>
          <p:cNvPr id="7" name="Picture 6" descr="A close-up of a graph&#10;&#10;AI-generated content may be incorrect.">
            <a:extLst>
              <a:ext uri="{FF2B5EF4-FFF2-40B4-BE49-F238E27FC236}">
                <a16:creationId xmlns:a16="http://schemas.microsoft.com/office/drawing/2014/main" id="{A57A0E82-F2C9-90B1-B425-6855C6D96AA6}"/>
              </a:ext>
            </a:extLst>
          </p:cNvPr>
          <p:cNvPicPr>
            <a:picLocks noChangeAspect="1"/>
          </p:cNvPicPr>
          <p:nvPr/>
        </p:nvPicPr>
        <p:blipFill>
          <a:blip r:embed="rId2"/>
          <a:stretch>
            <a:fillRect/>
          </a:stretch>
        </p:blipFill>
        <p:spPr>
          <a:xfrm>
            <a:off x="0" y="15486"/>
            <a:ext cx="12192000" cy="6842514"/>
          </a:xfrm>
          <a:prstGeom prst="rect">
            <a:avLst/>
          </a:prstGeom>
        </p:spPr>
      </p:pic>
    </p:spTree>
    <p:extLst>
      <p:ext uri="{BB962C8B-B14F-4D97-AF65-F5344CB8AC3E}">
        <p14:creationId xmlns:p14="http://schemas.microsoft.com/office/powerpoint/2010/main" val="1628276101"/>
      </p:ext>
    </p:extLst>
  </p:cSld>
  <p:clrMapOvr>
    <a:masterClrMapping/>
  </p:clrMapOvr>
</p:sld>
</file>

<file path=ppt/theme/theme1.xml><?xml version="1.0" encoding="utf-8"?>
<a:theme xmlns:a="http://schemas.openxmlformats.org/drawingml/2006/main" name="Facet">
  <a:themeElements>
    <a:clrScheme name="Custom 11">
      <a:dk1>
        <a:srgbClr val="000805"/>
      </a:dk1>
      <a:lt1>
        <a:srgbClr val="CDFFEE"/>
      </a:lt1>
      <a:dk2>
        <a:srgbClr val="002E1E"/>
      </a:dk2>
      <a:lt2>
        <a:srgbClr val="A3FFE0"/>
      </a:lt2>
      <a:accent1>
        <a:srgbClr val="9FFFDE"/>
      </a:accent1>
      <a:accent2>
        <a:srgbClr val="CDFFEE"/>
      </a:accent2>
      <a:accent3>
        <a:srgbClr val="6DFFCB"/>
      </a:accent3>
      <a:accent4>
        <a:srgbClr val="FFFFFF"/>
      </a:accent4>
      <a:accent5>
        <a:srgbClr val="005035"/>
      </a:accent5>
      <a:accent6>
        <a:srgbClr val="918655"/>
      </a:accent6>
      <a:hlink>
        <a:srgbClr val="91FDD9"/>
      </a:hlink>
      <a:folHlink>
        <a:srgbClr val="65FFC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
  <TotalTime>408</TotalTime>
  <Words>938</Words>
  <Application>Microsoft Office PowerPoint</Application>
  <PresentationFormat>Widescreen</PresentationFormat>
  <Paragraphs>99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Trebuchet MS</vt:lpstr>
      <vt:lpstr>Wingdings 3</vt:lpstr>
      <vt:lpstr>Facet</vt:lpstr>
      <vt:lpstr>Voice of Customer Dashboard: Starbucks</vt:lpstr>
      <vt:lpstr>Brand Background</vt:lpstr>
      <vt:lpstr>Objective of the VOC</vt:lpstr>
      <vt:lpstr>Data Sources Breakdown</vt:lpstr>
      <vt:lpstr>Google Play</vt:lpstr>
      <vt:lpstr>Google Places (Google Maps)</vt:lpstr>
      <vt:lpstr>Reddit</vt:lpstr>
      <vt:lpstr>PowerPoint Presentation</vt:lpstr>
      <vt:lpstr>Dashboard Walkthrough (Google Play Store) </vt:lpstr>
      <vt:lpstr>Dashboard Walkthrough (Google Maps) </vt:lpstr>
      <vt:lpstr>Dashboard Walkthrough (Reddit) </vt:lpstr>
      <vt:lpstr>Combined Metrics</vt:lpstr>
      <vt:lpstr>Key Customer data-driven Insights</vt:lpstr>
      <vt:lpstr>Key Customer data-driven Insights</vt:lpstr>
      <vt:lpstr>Recommended Actions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Cameron Webb</dc:creator>
  <cp:lastModifiedBy>Cameron Webb</cp:lastModifiedBy>
  <cp:revision>206</cp:revision>
  <dcterms:created xsi:type="dcterms:W3CDTF">2025-12-08T15:56:31Z</dcterms:created>
  <dcterms:modified xsi:type="dcterms:W3CDTF">2026-01-15T00:12:35Z</dcterms:modified>
</cp:coreProperties>
</file>